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163b52b-5d07-99ad-4fcc-7b6911cf286c}">
          <p14:sldIdLst>
            <p14:sldId id="256"/>
            <p14:sldId id="257"/>
          </p14:sldIdLst>
        </p14:section>
        <p14:section name="Method" id="{2925e048-ae4a-5b61-4a3d-ee2173dd8e9d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Results" id="{0da18023-b17d-adcc-1f4a-e843d9edbd7e}">
          <p14:sldIdLst>
            <p14:sldId id="265"/>
            <p14:sldId id="266"/>
            <p14:sldId id="267"/>
            <p14:sldId id="268"/>
          </p14:sldIdLst>
        </p14:section>
        <p14:section name="Wrap-up" id="{78d9fa04-6ee0-3f73-7ffc-eefa69b991e3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3A8B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A3A8B3"/>
                </a:solidFill>
                <a:latin typeface="+mn-lt"/>
              </a:rPr>
              <a:t>Earthquakes at each stage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Earthquakes</c:v>
                </c:pt>
              </c:strCache>
            </c:strRef>
          </c:tx>
          <c:spPr>
            <a:solidFill>
              <a:srgbClr val="7F86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1EEE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86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F86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86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7A3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Raw catalog</c:v>
                  </c:pt>
                  <c:pt idx="1">
                    <c:v>East Rift Zone</c:v>
                  </c:pt>
                  <c:pt idx="2">
                    <c:v>Modeled</c:v>
                  </c:pt>
                  <c:pt idx="3">
                    <c:v>During eruption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6485</c:v>
                </c:pt>
                <c:pt idx="1">
                  <c:v>3764</c:v>
                </c:pt>
                <c:pt idx="2">
                  <c:v>2960</c:v>
                </c:pt>
                <c:pt idx="3">
                  <c:v>304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1EEE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1EEE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3A8B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A3A8B3"/>
                </a:solidFill>
                <a:latin typeface="+mn-lt"/>
              </a:rPr>
              <a:t>K-means (k=4): test eruptions found out of 19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Eruptive quakes found (of 19)</c:v>
                </c:pt>
              </c:strCache>
            </c:strRef>
          </c:tx>
          <c:spPr>
            <a:solidFill>
              <a:srgbClr val="FF7A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1EEE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7A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F86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86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F869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Fixed 0.5 (original)</c:v>
                  </c:pt>
                  <c:pt idx="1">
                    <c:v>Dev-F1 threshold 0.538</c:v>
                  </c:pt>
                  <c:pt idx="2">
                    <c:v>Dev FPR cap 0.20</c:v>
                  </c:pt>
                  <c:pt idx="3">
                    <c:v>Dev FPR cap 0.10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9</c:v>
                </c:pt>
                <c:pt idx="2">
                  <c:v>6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1EEE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1EEE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3A8B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A3A8B3"/>
                </a:solidFill>
                <a:latin typeface="+mn-lt"/>
              </a:rPr>
              <a:t>Test RMSE in days (lower is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RMSE (days)</c:v>
                </c:pt>
              </c:strCache>
            </c:strRef>
          </c:tx>
          <c:spPr>
            <a:solidFill>
              <a:srgbClr val="FF7A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1EEE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7A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F86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86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F869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Mean baseline (selected)</c:v>
                  </c:pt>
                  <c:pt idx="1">
                    <c:v>Random forest</c:v>
                  </c:pt>
                  <c:pt idx="2">
                    <c:v>Joint K-means</c:v>
                  </c:pt>
                  <c:pt idx="3">
                    <c:v>MLP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7.75</c:v>
                </c:pt>
                <c:pt idx="1">
                  <c:v>7.3</c:v>
                </c:pt>
                <c:pt idx="2">
                  <c:v>7.56</c:v>
                </c:pt>
                <c:pt idx="3">
                  <c:v>8.28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F1EEE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1EEE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problem (number 64). We adapt the Stanford CS229 PEEVED project: Kilauea earthquakes and eruptions. Our contribution is a leakage-aware, time-ordered evaluation plus a handful of extra experiments.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Magma moving through the East Rift Zone fractures rock, so seismicity should change around eruptions. Each earthquake has time, location, depth and magnitude. The paper asks two questions; we keep its data and features but change how we evaluate.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The single rule: nothing that touches the test labels may influence any choice. Scaling, hyperparameters, features and thresholds are all fixed using training and development data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Funnel from raw catalog to modeled rows. The East Rift filter reproduces the paper count of 3,764. The seven original features come from the paper; the four extra features are our experiment, and all use only information before the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Labels follow the original PEEVED rule plus a 24 hour uncertainty buffer. Episode 48 has an impossible duration; the original code used it, which labels every later quake as erupting. We keep its onset only as the end of coverage.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Likely viva question. For a quake at time t, every feature uses only events before t. Quakes at exactly t are excluded too. Training labels must be known before the next window starts, and there are 30-day gaps between windows. The 17-test suite checks these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Chronological 70/20/10 with 30-day gaps. Train is Jan 1983 to Apr 1985, development May 1985 to Jan 1986, test Feb to Jul 1986. The random split from the paper is kept only as a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Classification candidates: prior baseline, logistic regression, random forest, Extra Trees, gradient boosting, class-conditional K-means, and a small MLP. Regression: mean baseline, random forest, joint K-means and MLP. Fit on train, pick on development, then freeze. Classification reports two selection procedures: development AUROC (retained baseline, picks gradient boosting) and development F1 with feature set and threshold (reported, picks logistic regression on 11 features).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is useless here: predicting repose for every quake is 93.6 percent accurate on test. So we use ranking metrics and chance-corrected agreement. Be ready to explain AUROC, kappa, precision and recall in the viva.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ROC curves for all seven classifiers; everything sits between 0.48 and 0.53 AUROC. IMPORTANT: two selection objectives give different winners. Development F1 (with feature set and threshold) picks logistic regression on 11 features; development AUROC alone picks gradient boosting. They optimise different things, and neither is an improvement. With 19 test positives the differences are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negative result. A search over k in 2 to 8, raw vs scaled inputs and two distance scores raised development AUROC to 0.668, but the frozen test AUROC was 0.515, no better than the original k=4 (0.524). Thresholds change decisions, not ranking, so K-means AUROC is 0.524 in every threshold row. All thresholds, including the recall-first ones, were chosen on development data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Development selected the mean baseline. The forest has lower test RMSE, but it was worse on development, so switching after seeing test would be tuning on test. All R squared values are negative on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paper used a random split and reported strong random-forest numbers. Under the same features, a random split gives AUROC 0.685 and kappa 0.185, while time-ordered gives 0.484 and -0.006. We do not claim to reproduce the paper numbers; its RMSE is on a standardized target so only R squared is comparable.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finding: catalog features alone do not forecast eruptions on later earthquakes. Methodological lesson: evaluation design matters. Be honest about limits: 19 test positives, 49 eruptions, one volcano.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live demo: run the tests, then demo.py on a held-out row. Use --output-dir for a live retrain so committed results are not overwritten. Everything pins scikit-learn 1.7.2.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1EEE8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282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696"/>
                </a:solidFill>
              </a:rPr>
              <a:t>UE24CS352A  ·  Machine Learning  ·  PEEVED mini-project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UE24CS352A MACHINE LEARNING  ·  MINI-PROJECT REVIEW  ·  PROBLEM 64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9326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Earthquake signals and Kilauea eruptions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37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3A8B3"/>
                </a:solidFill>
              </a:rPr>
              <a:t>Predicting eruptive events at Pu'u O'o volcano from earthquake data, with a time-ordered evaluation</a:t>
            </a:r>
            <a:endParaRPr lang="en-US" sz="2000" dirty="0"/>
          </a:p>
        </p:txBody>
      </p:sp>
      <p:pic>
        <p:nvPicPr>
          <p:cNvPr id="5" name="Image 0" descr="Seismogram tr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160520"/>
            <a:ext cx="12191695" cy="1188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5623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EEE8"/>
                </a:solidFill>
              </a:rPr>
              <a:t>Prithvish Adhikari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A3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PES1UG24AM206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206240" y="5623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EEE8"/>
                </a:solidFill>
              </a:rPr>
              <a:t>Piyush Shiv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A3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PES1UG24AM191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5943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A3A8B3"/>
                </a:solidFill>
              </a:rPr>
              <a:t>Based on Mullet, Singh and Wong, Stanford CS229 (2019), PEEVED  · 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EEE8"/>
                </a:solidFill>
              </a:rPr>
              <a:t>Can earthquakes tell us when Pu'u O'o erupts?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01  ·  THE PROBLEM</a:t>
            </a:r>
            <a:endParaRPr lang="en-US" sz="1100" dirty="0"/>
          </a:p>
        </p:txBody>
      </p:sp>
      <p:pic>
        <p:nvPicPr>
          <p:cNvPr id="5" name="Image 0" descr="Map of modeled East Rift Zone earthquakes coloured by dep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394960" cy="300890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46817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8B3"/>
                </a:solidFill>
              </a:rPr>
              <a:t>2,960 modeled East Rift Zone earthquakes, 1983-1986, coloured by depth. Catalog: ANSS via WOVOdat.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16636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WHY EARTHQUAKES?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4406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EEE8"/>
                </a:solidFill>
              </a:rPr>
              <a:t>Rising magma stresses and cracks the crust, so more or shallower quakes may signal activity.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400800" y="15544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TASK 1  ·  CLASSIFICATION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400800" y="18105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volcano erupting right now?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6400800" y="2212848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EEE8"/>
                </a:solidFill>
              </a:rPr>
              <a:t>Input: one earthquake and its recent context. Output: erupting (1) or repose (0). Only about 1 in 10 earthquakes is labelled erupting.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32004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TASK 2  ·  REGRESSION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34564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days until the next eruption?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0" y="3858768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EEE8"/>
                </a:solidFill>
              </a:rPr>
              <a:t>Output: a number of days to the next episode onset (0 if already erupting). Much harder: it needs a precise clock, not just a state.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400800" y="4846320"/>
            <a:ext cx="5212080" cy="0"/>
          </a:xfrm>
          <a:prstGeom prst="line">
            <a:avLst/>
          </a:prstGeom>
          <a:noFill/>
          <a:ln w="9525">
            <a:solidFill>
              <a:srgbClr val="3A3F4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400800" y="49834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A8B3"/>
                </a:solidFill>
              </a:rPr>
              <a:t>WHAT THE PAPER DID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6400800" y="5230368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EEE8"/>
                </a:solidFill>
              </a:rPr>
              <a:t>Shuffled all earthquakes at random into train/dev/test, then reported random forest as best. Neighbouring quakes from one swarm land on both sides of the split.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0" y="59436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WHAT WE ADD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6400800" y="618134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EEE8"/>
                </a:solidFill>
              </a:rPr>
              <a:t>A time-ordered holdout, leakage tests, threshold analysis, 4 extra features.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EEE8"/>
                </a:solidFill>
              </a:rPr>
              <a:t>Our pipeline: seven steps, one rule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02  ·  METHOD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31520" y="1783080"/>
            <a:ext cx="9601200" cy="0"/>
          </a:xfrm>
          <a:prstGeom prst="line">
            <a:avLst/>
          </a:prstGeom>
          <a:noFill/>
          <a:ln w="9525">
            <a:solidFill>
              <a:srgbClr val="3A3F4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076688" y="1444752"/>
            <a:ext cx="1636776" cy="2377440"/>
          </a:xfrm>
          <a:prstGeom prst="rect">
            <a:avLst/>
          </a:prstGeom>
          <a:solidFill>
            <a:srgbClr val="FF7A3D"/>
          </a:solidFill>
          <a:ln w="12700">
            <a:solidFill>
              <a:srgbClr val="FF7A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600200"/>
            <a:ext cx="365760" cy="365760"/>
          </a:xfrm>
          <a:prstGeom prst="ellipse">
            <a:avLst/>
          </a:prstGeom>
          <a:solidFill>
            <a:srgbClr val="14161B"/>
          </a:solidFill>
          <a:ln w="15875">
            <a:solidFill>
              <a:srgbClr val="FF7A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3D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194560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1EEE8"/>
                </a:solidFill>
              </a:rPr>
              <a:t>CATALOGS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487168"/>
            <a:ext cx="1444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8B3"/>
                </a:solidFill>
              </a:rPr>
              <a:t>6,485 ANSS earthquakes and 49 eruption entries from the PEEVED repo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148840" y="1600200"/>
            <a:ext cx="365760" cy="365760"/>
          </a:xfrm>
          <a:prstGeom prst="ellipse">
            <a:avLst/>
          </a:prstGeom>
          <a:solidFill>
            <a:srgbClr val="14161B"/>
          </a:solidFill>
          <a:ln w="15875">
            <a:solidFill>
              <a:srgbClr val="FF7A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1488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3D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148840" y="2194560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1EEE8"/>
                </a:solidFill>
              </a:rPr>
              <a:t>CLEAN + FILTER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148840" y="2487168"/>
            <a:ext cx="1444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8B3"/>
                </a:solidFill>
              </a:rPr>
              <a:t>Drop invalid rows and duplicates; keep East Rift Zone only: 3,764 quakes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749040" y="1600200"/>
            <a:ext cx="365760" cy="365760"/>
          </a:xfrm>
          <a:prstGeom prst="ellipse">
            <a:avLst/>
          </a:prstGeom>
          <a:solidFill>
            <a:srgbClr val="14161B"/>
          </a:solidFill>
          <a:ln w="15875">
            <a:solidFill>
              <a:srgbClr val="FF7A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490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3D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749040" y="2194560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1EEE8"/>
                </a:solidFill>
              </a:rPr>
              <a:t>FEATURES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3749040" y="2487168"/>
            <a:ext cx="1444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8B3"/>
                </a:solidFill>
              </a:rPr>
              <a:t>Location, depth, magnitude and past-only counts over 1, 7, 30 days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349240" y="1600200"/>
            <a:ext cx="365760" cy="365760"/>
          </a:xfrm>
          <a:prstGeom prst="ellipse">
            <a:avLst/>
          </a:prstGeom>
          <a:solidFill>
            <a:srgbClr val="14161B"/>
          </a:solidFill>
          <a:ln w="15875">
            <a:solidFill>
              <a:srgbClr val="FF7A3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3492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3D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49240" y="2194560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1EEE8"/>
                </a:solidFill>
              </a:rPr>
              <a:t>LABELS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349240" y="2487168"/>
            <a:ext cx="1444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8B3"/>
                </a:solidFill>
              </a:rPr>
              <a:t>Erupting = inside an episode plus 24 h buffer; days to next onset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949440" y="1600200"/>
            <a:ext cx="365760" cy="365760"/>
          </a:xfrm>
          <a:prstGeom prst="ellipse">
            <a:avLst/>
          </a:prstGeom>
          <a:solidFill>
            <a:srgbClr val="14161B"/>
          </a:solidFill>
          <a:ln w="15875">
            <a:solidFill>
              <a:srgbClr val="FF7A3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9494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3D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949440" y="2194560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1EEE8"/>
                </a:solidFill>
              </a:rPr>
              <a:t>TIME SPLIT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949440" y="2487168"/>
            <a:ext cx="1444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8B3"/>
                </a:solidFill>
              </a:rPr>
              <a:t>70/20/10 by time with 30-day gaps and label-availability checks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549640" y="1600200"/>
            <a:ext cx="365760" cy="365760"/>
          </a:xfrm>
          <a:prstGeom prst="ellipse">
            <a:avLst/>
          </a:prstGeom>
          <a:solidFill>
            <a:srgbClr val="14161B"/>
          </a:solidFill>
          <a:ln w="15875">
            <a:solidFill>
              <a:srgbClr val="FF7A3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5496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3D"/>
                </a:solidFill>
              </a:rPr>
              <a:t>6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549640" y="2194560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1EEE8"/>
                </a:solidFill>
              </a:rPr>
              <a:t>TRAIN + SELECT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8549640" y="2487168"/>
            <a:ext cx="1444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8B3"/>
                </a:solidFill>
              </a:rPr>
              <a:t>Fit on train; choose model, features and threshold on development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0149840" y="1600200"/>
            <a:ext cx="365760" cy="365760"/>
          </a:xfrm>
          <a:prstGeom prst="ellipse">
            <a:avLst/>
          </a:prstGeom>
          <a:solidFill>
            <a:srgbClr val="14161B"/>
          </a:solidFill>
          <a:ln w="15875">
            <a:solidFill>
              <a:srgbClr val="14161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1498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EEE8"/>
                </a:solidFill>
              </a:rPr>
              <a:t>7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10149840" y="2194560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161B"/>
                </a:solidFill>
              </a:rPr>
              <a:t>TEST ONCE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10149840" y="2487168"/>
            <a:ext cx="1444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B"/>
                </a:solidFill>
              </a:rPr>
              <a:t>Freeze every choice, then score the later test window once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411480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DESIGN PRINCIPLE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437083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like a forecaster</a:t>
            </a:r>
            <a:endParaRPr lang="en-US" sz="22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484632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1EEE8"/>
                </a:solidFill>
              </a:rPr>
              <a:t>A forecaster only knows the past, so every feature looks strictly backwards.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1EEE8"/>
                </a:solidFill>
              </a:rPr>
              <a:t>Models are chosen on development data; the test window is scored exactly once.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1EEE8"/>
                </a:solidFill>
              </a:rPr>
              <a:t>Baselines are allowed to win. If nothing beats "predict the average", we say so.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0" y="41148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WHAT WE BUILT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6400800" y="43708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you can run</a:t>
            </a:r>
            <a:endParaRPr lang="en-US" sz="2200" dirty="0"/>
          </a:p>
        </p:txBody>
      </p:sp>
      <p:sp>
        <p:nvSpPr>
          <p:cNvPr id="40" name="Shape 37"/>
          <p:cNvSpPr/>
          <p:nvPr/>
        </p:nvSpPr>
        <p:spPr>
          <a:xfrm>
            <a:off x="6400800" y="4846320"/>
            <a:ext cx="5239512" cy="1417320"/>
          </a:xfrm>
          <a:prstGeom prst="rect">
            <a:avLst/>
          </a:prstGeom>
          <a:solidFill>
            <a:srgbClr val="1E2128"/>
          </a:solidFill>
          <a:ln w="12700">
            <a:solidFill>
              <a:srgbClr val="1E2128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583680" y="49834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7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src/data.py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1EEE8"/>
                </a:solidFill>
              </a:rPr>
              <a:t>: cleaning, past-only features, labels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7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src/models.py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1EEE8"/>
                </a:solidFill>
              </a:rPr>
              <a:t>: K-means classifier and regressor wrappers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7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src/experiment.py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1EEE8"/>
                </a:solidFill>
              </a:rPr>
              <a:t>: splits, selection, thresholds, metrics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7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demo.py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1EEE8"/>
                </a:solidFill>
              </a:rPr>
              <a:t> + 17 unit tests (all pass) + saved results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EEE8"/>
                </a:solidFill>
              </a:rPr>
              <a:t>2,960 earthquakes, up to eleven features each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03  ·  DATA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5394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8920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HOW THE COUNT DROPS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16636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1EEE8"/>
                </a:solidFill>
              </a:rPr>
              <a:t>3,764 to 2,960: first 30 days (feature warm-up) and everything from 20 Jul 1986 on, where eruption coverage ends.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EEE8"/>
                </a:solidFill>
              </a:rPr>
              <a:t>304 erupting = 10.3%: a strongly imbalanced target.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400800" y="15544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WHAT THE MODEL SEES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400800" y="192024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0" y="2240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8B3"/>
                </a:solidFill>
              </a:rPr>
              <a:t>Longitude, latitude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098280" y="192024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deep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9098280" y="2240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8B3"/>
                </a:solidFill>
              </a:rPr>
              <a:t>Depth in km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276148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big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0" y="30815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8B3"/>
                </a:solidFill>
              </a:rPr>
              <a:t>Magnitude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098280" y="276148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busy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9098280" y="30815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8B3"/>
                </a:solidFill>
              </a:rPr>
              <a:t>Quakes in previous 1, 7 and 30 days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400800" y="360273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7A3D"/>
                </a:solidFill>
              </a:rPr>
              <a:t>NEW  </a:t>
            </a:r>
            <a:pPr indent="0" marL="0">
              <a:buNone/>
            </a:pPr>
            <a:r>
              <a:rPr lang="en-US" sz="17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6 hours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0" y="392277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8B3"/>
                </a:solidFill>
              </a:rPr>
              <a:t>Quake count in previous 6 h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098280" y="360273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7A3D"/>
                </a:solidFill>
              </a:rPr>
              <a:t>NEW  </a:t>
            </a:r>
            <a:pPr indent="0" marL="0">
              <a:buNone/>
            </a:pPr>
            <a:r>
              <a:rPr lang="en-US" sz="17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Quiet time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9098280" y="392277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8B3"/>
                </a:solidFill>
              </a:rPr>
              <a:t>Time since previous quake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6400800" y="444398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7A3D"/>
                </a:solidFill>
              </a:rPr>
              <a:t>NEW  </a:t>
            </a:r>
            <a:pPr indent="0" marL="0">
              <a:buNone/>
            </a:pPr>
            <a:r>
              <a:rPr lang="en-US" sz="17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size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400800" y="47640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8B3"/>
                </a:solidFill>
              </a:rPr>
              <a:t>Mean magnitude, previous 24 h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9098280" y="444398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7A3D"/>
                </a:solidFill>
              </a:rPr>
              <a:t>NEW  </a:t>
            </a:r>
            <a:pPr indent="0" marL="0">
              <a:buNone/>
            </a:pPr>
            <a:r>
              <a:rPr lang="en-US" sz="17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Biggest recent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9098280" y="47640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8B3"/>
                </a:solidFill>
              </a:rPr>
              <a:t>Max magnitude, previous 24 h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400800" y="5349240"/>
            <a:ext cx="5212080" cy="0"/>
          </a:xfrm>
          <a:prstGeom prst="line">
            <a:avLst/>
          </a:prstGeom>
          <a:noFill/>
          <a:ln w="9525">
            <a:solidFill>
              <a:srgbClr val="3A3F4A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400800" y="54864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8B3"/>
                </a:solidFill>
              </a:rPr>
              <a:t>Original 7 features follow the paper. The 4 NEW features test whether finer-grained recent activity helps.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EEE8"/>
                </a:solidFill>
              </a:rPr>
              <a:t>How labels are built, and two catalog errors we caught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04  ·  LABELS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099048" y="1600200"/>
            <a:ext cx="0" cy="4526280"/>
          </a:xfrm>
          <a:prstGeom prst="line">
            <a:avLst/>
          </a:prstGeom>
          <a:noFill/>
          <a:ln w="9525">
            <a:solidFill>
              <a:srgbClr val="3A3F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5544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A8B3"/>
                </a:solidFill>
              </a:rPr>
              <a:t>CLASSIFICATION TARGET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Erupting = 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EEE8"/>
                </a:solidFill>
              </a:rPr>
              <a:t>An earthquake is erupting if it falls inside an episode's catalog duration plus a 24-hour buffer. Everything else is repose (0).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1089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A8B3"/>
                </a:solidFill>
              </a:rPr>
              <a:t>REGRESSION TARGET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383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to next eruption onset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8404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EEE8"/>
                </a:solidFill>
              </a:rPr>
              <a:t>Measured to the next recorded onset; 0 if already erupting. Quakes with no known next onset are dropped, never set to zero.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6634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A8B3"/>
                </a:solidFill>
              </a:rPr>
              <a:t>CLASS IMBALANCE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937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10.3% erupting overall, 6.4% in test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3949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EEE8"/>
                </a:solidFill>
              </a:rPr>
              <a:t>Test holds 296 quakes, 19 erupting. Always guessing "repose" is 93.6% accurate, so accuracy alone is misleading.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15544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ERROR 1  ·  EPISODE 48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173,566,800 hours (about 19,800 years)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22860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EEE8"/>
                </a:solidFill>
              </a:rPr>
              <a:t>We keep its onset (20 Jul 1986) as the end of coverage and never use the duration. The original code used it as-is.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31089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ERROR 2  ·  EPISODES 35.5 AND 35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3383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Listed out of date order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0" y="38404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EEE8"/>
                </a:solidFill>
              </a:rPr>
              <a:t>We sort onsets and keep each duration attached to its own onset.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46634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A8B3"/>
                </a:solidFill>
              </a:rPr>
              <a:t>LABEL CHECK AGAINST ORIGINAL CODE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0" y="4937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match on the 2,960 modeled rows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0" y="53949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EEE8"/>
                </a:solidFill>
              </a:rPr>
              <a:t>On all 3,764 quakes the original rule gives 22.4% erupting; ours is 10.3% after removing 282 episode-48-only labels and 522 warm-up quakes.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EEE8"/>
                </a:solidFill>
              </a:rPr>
              <a:t>Preventing data leakage: features look only backwards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05  ·  LEAKAGE CONTROL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EXAMPLE  ·  7-DAY COUNT FOR ONE EARTHQUAKE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6492240" cy="2880360"/>
          </a:xfrm>
          <a:prstGeom prst="rect">
            <a:avLst/>
          </a:prstGeom>
          <a:solidFill>
            <a:srgbClr val="1E2128"/>
          </a:solidFill>
          <a:ln w="12700">
            <a:solidFill>
              <a:srgbClr val="1E212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194560" y="2926080"/>
            <a:ext cx="2743200" cy="502920"/>
          </a:xfrm>
          <a:prstGeom prst="rect">
            <a:avLst/>
          </a:prstGeom>
          <a:solidFill>
            <a:srgbClr val="6FC2B0">
              <a:alpha val="22000"/>
            </a:srgbClr>
          </a:solidFill>
          <a:ln w="12700">
            <a:solidFill>
              <a:srgbClr val="6FC2B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3429000"/>
            <a:ext cx="6035040" cy="0"/>
          </a:xfrm>
          <a:prstGeom prst="line">
            <a:avLst/>
          </a:prstGeom>
          <a:noFill/>
          <a:ln w="9525">
            <a:solidFill>
              <a:srgbClr val="A3A8B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9456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C2B0"/>
                </a:solidFill>
              </a:rPr>
              <a:t>counted: [t - 7 days, t)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78408" y="3355848"/>
            <a:ext cx="146304" cy="146304"/>
          </a:xfrm>
          <a:prstGeom prst="ellipse">
            <a:avLst/>
          </a:prstGeom>
          <a:solidFill>
            <a:srgbClr val="7F8696"/>
          </a:solidFill>
          <a:ln w="15875">
            <a:solidFill>
              <a:srgbClr val="7F869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35608" y="3355848"/>
            <a:ext cx="146304" cy="146304"/>
          </a:xfrm>
          <a:prstGeom prst="ellipse">
            <a:avLst/>
          </a:prstGeom>
          <a:solidFill>
            <a:srgbClr val="7F8696"/>
          </a:solidFill>
          <a:ln w="15875">
            <a:solidFill>
              <a:srgbClr val="7F869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01368" y="3355848"/>
            <a:ext cx="146304" cy="146304"/>
          </a:xfrm>
          <a:prstGeom prst="ellipse">
            <a:avLst/>
          </a:prstGeom>
          <a:solidFill>
            <a:srgbClr val="7F8696"/>
          </a:solidFill>
          <a:ln w="15875">
            <a:solidFill>
              <a:srgbClr val="7F869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95728" y="3355848"/>
            <a:ext cx="146304" cy="146304"/>
          </a:xfrm>
          <a:prstGeom prst="ellipse">
            <a:avLst/>
          </a:prstGeom>
          <a:solidFill>
            <a:srgbClr val="6FC2B0"/>
          </a:solidFill>
          <a:ln w="15875">
            <a:solidFill>
              <a:srgbClr val="6FC2B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07208" y="3355848"/>
            <a:ext cx="146304" cy="146304"/>
          </a:xfrm>
          <a:prstGeom prst="ellipse">
            <a:avLst/>
          </a:prstGeom>
          <a:solidFill>
            <a:srgbClr val="6FC2B0"/>
          </a:solidFill>
          <a:ln w="15875">
            <a:solidFill>
              <a:srgbClr val="6FC2B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18688" y="3355848"/>
            <a:ext cx="146304" cy="146304"/>
          </a:xfrm>
          <a:prstGeom prst="ellipse">
            <a:avLst/>
          </a:prstGeom>
          <a:solidFill>
            <a:srgbClr val="6FC2B0"/>
          </a:solidFill>
          <a:ln w="15875">
            <a:solidFill>
              <a:srgbClr val="6FC2B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13048" y="3355848"/>
            <a:ext cx="146304" cy="146304"/>
          </a:xfrm>
          <a:prstGeom prst="ellipse">
            <a:avLst/>
          </a:prstGeom>
          <a:solidFill>
            <a:srgbClr val="6FC2B0"/>
          </a:solidFill>
          <a:ln w="15875">
            <a:solidFill>
              <a:srgbClr val="6FC2B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15968" y="3355848"/>
            <a:ext cx="146304" cy="146304"/>
          </a:xfrm>
          <a:prstGeom prst="ellipse">
            <a:avLst/>
          </a:prstGeom>
          <a:solidFill>
            <a:srgbClr val="6FC2B0"/>
          </a:solidFill>
          <a:ln w="15875">
            <a:solidFill>
              <a:srgbClr val="6FC2B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36008" y="3355848"/>
            <a:ext cx="146304" cy="146304"/>
          </a:xfrm>
          <a:prstGeom prst="ellipse">
            <a:avLst/>
          </a:prstGeom>
          <a:solidFill>
            <a:srgbClr val="6FC2B0"/>
          </a:solidFill>
          <a:ln w="15875">
            <a:solidFill>
              <a:srgbClr val="6FC2B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74920" y="3291840"/>
            <a:ext cx="274320" cy="274320"/>
          </a:xfrm>
          <a:prstGeom prst="ellipse">
            <a:avLst/>
          </a:prstGeom>
          <a:solidFill>
            <a:srgbClr val="FF7A3D"/>
          </a:solidFill>
          <a:ln w="15875">
            <a:solidFill>
              <a:srgbClr val="FF7A3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41848" y="3355848"/>
            <a:ext cx="146304" cy="146304"/>
          </a:xfrm>
          <a:prstGeom prst="ellipse">
            <a:avLst/>
          </a:prstGeom>
          <a:ln w="15875">
            <a:solidFill>
              <a:srgbClr val="7F869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53328" y="3355848"/>
            <a:ext cx="146304" cy="146304"/>
          </a:xfrm>
          <a:prstGeom prst="ellipse">
            <a:avLst/>
          </a:prstGeom>
          <a:ln w="15875">
            <a:solidFill>
              <a:srgbClr val="7F869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19088" y="3355848"/>
            <a:ext cx="146304" cy="146304"/>
          </a:xfrm>
          <a:prstGeom prst="ellipse">
            <a:avLst/>
          </a:prstGeom>
          <a:ln w="15875">
            <a:solidFill>
              <a:srgbClr val="7F869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2976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A3D"/>
                </a:solidFill>
              </a:rPr>
              <a:t>quake to score (time t)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40680" y="2926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3A8B3"/>
                </a:solidFill>
              </a:rPr>
              <a:t>never used: the future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41148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8B3"/>
                </a:solidFill>
              </a:rPr>
              <a:t>Past and future quakes sit on the same time axis. Only the teal window feeds the 7-day count; the quake at t itself is excluded.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0292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VIVA ONE-LINER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321808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"All temporal features use only information available before the prediction timestamp, so future earthquake activity never predicts the current state."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7589520" y="1554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Strictly-before windows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7589520" y="190195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A8B3"/>
                </a:solidFill>
              </a:rPr>
              <a:t>Counts use [t - window, t); events at the same timestamp are excluded.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589520" y="2743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availability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7589520" y="309067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A8B3"/>
                </a:solidFill>
              </a:rPr>
              <a:t>A training label must be observable before the next window starts.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589520" y="39319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30-day gaps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7589520" y="427939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A8B3"/>
                </a:solidFill>
              </a:rPr>
              <a:t>Gaps separate train, development and test so windows do not touch.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7589520" y="5120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tests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7589520" y="546811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A8B3"/>
                </a:solidFill>
              </a:rPr>
              <a:t>17 unit tests pass, covering window boundaries, ties, labels, the buffer rule and the splits.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EEE8"/>
                </a:solidFill>
              </a:rPr>
              <a:t>We test on later earthquakes, not shuffled ones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06  ·  EVALUATION DESIGN</a:t>
            </a:r>
            <a:endParaRPr lang="en-US" sz="1100" dirty="0"/>
          </a:p>
        </p:txBody>
      </p:sp>
      <p:pic>
        <p:nvPicPr>
          <p:cNvPr id="5" name="Image 0" descr="Weekly earthquake counts with train, development and test window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863840" cy="30562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4846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TRAIN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1023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2,023 quakes  ·  230 erupting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623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8B3"/>
                </a:solidFill>
              </a:rPr>
              <a:t>Jan 1983 - Apr 1985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897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8B3"/>
                </a:solidFill>
              </a:rPr>
              <a:t>Fit every candidate model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3246120" y="4846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DEVELOPMENT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3246120" y="51023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519 quakes  ·  46 erupting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246120" y="5623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8B3"/>
                </a:solidFill>
              </a:rPr>
              <a:t>May 1985 - Jan 1986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246120" y="5897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8B3"/>
                </a:solidFill>
              </a:rPr>
              <a:t>Choose model, features, threshold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943600" y="4846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TEST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943600" y="51023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296 quakes  ·  19 erupting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943600" y="5623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8B3"/>
                </a:solidFill>
              </a:rPr>
              <a:t>Feb 1986 - Jul 1986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943600" y="5897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8B3"/>
                </a:solidFill>
              </a:rPr>
              <a:t>Scored once at the very end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869680" y="1554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GAPS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8869680" y="18105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days</a:t>
            </a:r>
            <a:endParaRPr lang="en-US" sz="2600" dirty="0"/>
          </a:p>
        </p:txBody>
      </p:sp>
      <p:sp>
        <p:nvSpPr>
          <p:cNvPr id="20" name="Text 16"/>
          <p:cNvSpPr txBox="1"/>
          <p:nvPr/>
        </p:nvSpPr>
        <p:spPr>
          <a:xfrm>
            <a:off x="8869680" y="2331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A8B3"/>
                </a:solidFill>
              </a:rPr>
              <a:t>Between windows, so near-identical quakes cannot sit on both sides.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869680" y="3337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LABEL RULE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8869680" y="3593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in time</a:t>
            </a:r>
            <a:endParaRPr lang="en-US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8869680" y="4023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A8B3"/>
                </a:solidFill>
              </a:rPr>
              <a:t>Training labels must be observable before the next window opens.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732520" y="4846320"/>
            <a:ext cx="3017520" cy="1463040"/>
          </a:xfrm>
          <a:prstGeom prst="rect">
            <a:avLst/>
          </a:prstGeom>
          <a:solidFill>
            <a:srgbClr val="272B34"/>
          </a:solidFill>
          <a:ln w="12700">
            <a:solidFill>
              <a:srgbClr val="272B34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869680" y="4956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8869680" y="523036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EEE8"/>
                </a:solidFill>
              </a:rPr>
              <a:t>Swarms are bursty. A random split lets a swarm leak across train and test.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EEE8"/>
                </a:solidFill>
              </a:rPr>
              <a:t>Seven model families, chosen on development data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07  ·  MODELS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06240"/>
                <a:gridCol w="44165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3A8B3"/>
                          </a:solidFill>
                        </a:rPr>
                        <a:t>FAMILY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3A8B3"/>
                          </a:solidFill>
                        </a:rPr>
                        <a:t>IDEA IN ONE LINE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3A8B3"/>
                          </a:solidFill>
                        </a:rPr>
                        <a:t>HOW WE USED 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B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EEE8"/>
                          </a:solidFill>
                        </a:rPr>
                        <a:t>Prior / mean baseline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3A8B3"/>
                          </a:solidFill>
                        </a:rPr>
                        <a:t>Always predicts the base rate or training average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EEE8"/>
                          </a:solidFill>
                        </a:rPr>
                        <a:t>The floor every model must beat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EEE8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3A8B3"/>
                          </a:solidFill>
                        </a:rPr>
                        <a:t>Weighted sum of features turned into a probability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EEE8"/>
                          </a:solidFill>
                        </a:rPr>
                        <a:t>C = 0.1, 1, 10; balanced class weights; scaled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EEE8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3A8B3"/>
                          </a:solidFill>
                        </a:rPr>
                        <a:t>Many decision trees vote on random data subsets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EEE8"/>
                          </a:solidFill>
                        </a:rPr>
                        <a:t>200 trees; depth 5, 15 or none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EEE8"/>
                          </a:solidFill>
                        </a:rPr>
                        <a:t>Extra Trees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3A8B3"/>
                          </a:solidFill>
                        </a:rPr>
                        <a:t>Like a forest but with extra-random split points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EEE8"/>
                          </a:solidFill>
                        </a:rPr>
                        <a:t>Small development grid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EEE8"/>
                          </a:solidFill>
                        </a:rPr>
                        <a:t>Gradient boosting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3A8B3"/>
                          </a:solidFill>
                        </a:rPr>
                        <a:t>Small trees added one by one, each fixing the last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EEE8"/>
                          </a:solidFill>
                        </a:rPr>
                        <a:t>Small development grid; n=100, depth=2 was AUROC pick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EEE8"/>
                          </a:solidFill>
                        </a:rPr>
                        <a:t>Class-conditional K-means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3A8B3"/>
                          </a:solidFill>
                        </a:rPr>
                        <a:t>Cluster each class; score by closeness to its centroids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EEE8"/>
                          </a:solidFill>
                        </a:rPr>
                        <a:t>k = 2 to 8; raw or scaled inputs; 2 distance scores (regression: joint centroids)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EEE8"/>
                          </a:solidFill>
                        </a:rPr>
                        <a:t>Neural network (MLP)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3A8B3"/>
                          </a:solidFill>
                        </a:rPr>
                        <a:t>Two hidden layers (32 and 16 units)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EEE8"/>
                          </a:solidFill>
                        </a:rPr>
                        <a:t>alpha = 0.001, 0.1; scaled; 400 iterations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937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1051560" y="4983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EEE8"/>
                </a:solidFill>
              </a:rPr>
              <a:t>FIT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51560" y="52578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8B3"/>
                </a:solidFill>
              </a:rPr>
              <a:t>Train each setting on the training window only. Scaling is fit on training data inside each pipeline.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297680" y="4937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4800600" y="4983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EEE8"/>
                </a:solidFill>
              </a:rPr>
              <a:t>SELECT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4800600" y="52578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8B3"/>
                </a:solidFill>
              </a:rPr>
              <a:t>Development data only. Classification has two procedures: AUROC alone, or development F1 with feature set (7 vs 11) and threshold. Regression: development RMSE.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046720" y="4937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8549640" y="4983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EEE8"/>
                </a:solidFill>
              </a:rPr>
              <a:t>TEST ONCE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8549640" y="52578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8B3"/>
                </a:solidFill>
              </a:rPr>
              <a:t>Freeze the choice, then score the test window once. No peeking, no re-tuning.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EEE8"/>
                </a:solidFill>
              </a:rPr>
              <a:t>How we judge a model, in plain English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08  ·  METRICS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AUROC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1168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A8B3"/>
                </a:solidFill>
              </a:rPr>
              <a:t>Pick one erupting and one repose quake at random. AUROC is the chance the model scores the erupting one higher. 0.5 = coin flip.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343400" y="15544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precision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201168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A8B3"/>
                </a:solidFill>
              </a:rPr>
              <a:t>How clean the top of the ranking is. Compare to the base rate: 6.4% in test.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15544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Cohen's kappa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201168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A8B3"/>
                </a:solidFill>
              </a:rPr>
              <a:t>Agreement with the truth beyond chance. 0 = no better than chance; 1 = perfect.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2461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and recall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70332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A8B3"/>
                </a:solidFill>
              </a:rPr>
              <a:t>Precision: of the quakes flagged erupting, how many truly were. Recall: of the truly erupting, how many we caught.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343400" y="32461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and FPR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343400" y="370332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A8B3"/>
                </a:solidFill>
              </a:rPr>
              <a:t>A score becomes a yes/no at a threshold. FPR is the share of repose quakes wrongly flagged (false alarms).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138160" y="32461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RMSE, MAE, R squared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138160" y="370332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A8B3"/>
                </a:solidFill>
              </a:rPr>
              <a:t>Average error in days. R squared below 0 means worse than just predicting the mean.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892040"/>
            <a:ext cx="11064240" cy="0"/>
          </a:xfrm>
          <a:prstGeom prst="line">
            <a:avLst/>
          </a:prstGeom>
          <a:noFill/>
          <a:ln w="9525">
            <a:solidFill>
              <a:srgbClr val="3A3F4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074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WHY NOT ACCURACY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349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277 / 296</a:t>
            </a:r>
            <a:endParaRPr lang="en-US" sz="4000" dirty="0"/>
          </a:p>
        </p:txBody>
      </p:sp>
      <p:sp>
        <p:nvSpPr>
          <p:cNvPr id="20" name="Text 17"/>
          <p:cNvSpPr txBox="1"/>
          <p:nvPr/>
        </p:nvSpPr>
        <p:spPr>
          <a:xfrm>
            <a:off x="3200400" y="5349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19</a:t>
            </a:r>
            <a:endParaRPr 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989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8B3"/>
                </a:solidFill>
              </a:rPr>
              <a:t>correct (93.6%)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200400" y="5989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8B3"/>
                </a:solidFill>
              </a:rPr>
              <a:t>eruptions found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760720" y="53949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1EEE8"/>
                </a:solidFill>
              </a:rPr>
              <a:t>On the test window, "always repose" scores 277 of 296 correct (93.6%) yet finds 0 of 19 eruptions. That is why every result reports AUROC and kappa.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EEE8"/>
                </a:solidFill>
              </a:rPr>
              <a:t>Eruption status: every model is close to chance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09  ·  RESULTS  ·  CLASSIFICATION</a:t>
            </a:r>
            <a:endParaRPr lang="en-US" sz="1100" dirty="0"/>
          </a:p>
        </p:txBody>
      </p:sp>
      <p:pic>
        <p:nvPicPr>
          <p:cNvPr id="5" name="Image 0" descr="ROC curves for all classifiers on the chronological test period, close to the diago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4937760" cy="3274377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508760"/>
          <a:ext cx="569671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49047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3A8B3"/>
                          </a:solidFill>
                        </a:rPr>
                        <a:t>MODEL (TEST PERIOD)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A3A8B3"/>
                          </a:solidFill>
                        </a:rPr>
                        <a:t>TEST AUROC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B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Prior baseline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0.500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EEE8"/>
                          </a:solidFill>
                        </a:rPr>
                        <a:t>Logistic regression (dev-F1 pick)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7A3D"/>
                          </a:solidFill>
                        </a:rPr>
                        <a:t>0.484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B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Random forest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0.522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Extra Trees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0.483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EEE8"/>
                          </a:solidFill>
                        </a:rPr>
                        <a:t>Gradient boosting (dev-AUROC pick)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7A3D"/>
                          </a:solidFill>
                        </a:rPr>
                        <a:t>0.532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B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Class-conditional K-means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0.524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Neural network (MLP)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0.514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943600" y="42976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8B3"/>
                </a:solidFill>
              </a:rPr>
              <a:t>Both selected models are highlighted: they come from different objectives.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50749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SELECTED BY DEVELOPMENT F1 (REPORTED)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33095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regression, 11 features, C=10</a:t>
            </a:r>
            <a:endParaRPr lang="en-US" sz="17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568756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8B3"/>
                </a:solidFill>
              </a:rPr>
              <a:t>Threshold 0.611 set on development. Test: AUROC 0.484, kappa -0.006, found 4 of 19, 62 false alarms (precision 0.061, recall 0.211).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6309360" y="50749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SELECTED BY DEVELOPMENT AUROC (BASELINE)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6309360" y="53309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boosting, n=100, depth=2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6309360" y="5687568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8B3"/>
                </a:solidFill>
              </a:rPr>
              <a:t>Development AUROC 0.603; test AUROC 0.532. A different objective, so not automatically an improvement over the F1 procedure.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EEE8"/>
                </a:solidFill>
              </a:rPr>
              <a:t>Negative result: tuning K-means did not help on later data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10  ·  RESULTS  ·  K-MEANS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6355080" y="1508760"/>
            <a:ext cx="5285232" cy="3200400"/>
          </a:xfrm>
          <a:prstGeom prst="rect">
            <a:avLst/>
          </a:prstGeom>
          <a:solidFill>
            <a:srgbClr val="1E2128"/>
          </a:solidFill>
          <a:ln w="12700">
            <a:solidFill>
              <a:srgbClr val="1E212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629400" y="1737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KEY NEGATIVE RESULT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662940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on development, not on test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6629400" y="2560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A3A8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0.668</a:t>
            </a:r>
            <a:endParaRPr lang="en-US" sz="5400" dirty="0"/>
          </a:p>
        </p:txBody>
      </p:sp>
      <p:sp>
        <p:nvSpPr>
          <p:cNvPr id="10" name="Text 6"/>
          <p:cNvSpPr txBox="1"/>
          <p:nvPr/>
        </p:nvSpPr>
        <p:spPr>
          <a:xfrm>
            <a:off x="9144000" y="2560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0.515</a:t>
            </a:r>
            <a:endParaRPr lang="en-US" sz="5400" dirty="0"/>
          </a:p>
        </p:txBody>
      </p:sp>
      <p:sp>
        <p:nvSpPr>
          <p:cNvPr id="11" name="Text 7"/>
          <p:cNvSpPr txBox="1"/>
          <p:nvPr/>
        </p:nvSpPr>
        <p:spPr>
          <a:xfrm>
            <a:off x="662940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8B3"/>
                </a:solidFill>
              </a:rPr>
              <a:t>development AUROC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A8B3"/>
                </a:solidFill>
              </a:rPr>
              <a:t>(k=3, raw, relative distance)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9144000" y="3429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8B3"/>
                </a:solidFill>
              </a:rPr>
              <a:t>frozen test AUROC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A8B3"/>
                </a:solidFill>
              </a:rPr>
              <a:t>(original k=4: 0.524)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629400" y="4069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EEE8"/>
                </a:solidFill>
              </a:rPr>
              <a:t>Test AP 0.068, recall 0.158, FPR 0.177. The search improved development ranking only.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93776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THE TRADE-OFF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2120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EEE8"/>
                </a:solidFill>
              </a:rPr>
              <a:t>The fixed 0.5 rule catches 12 of 19 but raises 194 false alarms. Stricter thresholds, all set on development data, raise fewer alarms and miss more eruptions.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355080" y="49377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RECALL-FIRST (FPR CAP, SET ON DEVELOPMENT)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6355080" y="5212080"/>
            <a:ext cx="5285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EEE8"/>
                </a:solidFill>
              </a:rPr>
              <a:t>Cap 0.10: MLP, test recall 0.053, FPR 0.090. Cap 0.20: logistic, threshold 0.611, test recall 0.211, FPR 0.224. Test FPR was not constrained.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7A3D"/>
                </a:solidFill>
              </a:rPr>
              <a:t>Development scores overstate later performance, which is why every choice is frozen before test.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EEE8"/>
                </a:solidFill>
              </a:rPr>
              <a:t>Time to eruption: no model beats the average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11  ·  RESULTS  ·  REGRESSION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508760"/>
          <a:ext cx="533095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12161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3A8B3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A3A8B3"/>
                          </a:solidFill>
                        </a:rPr>
                        <a:t>RMSE (d)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A3A8B3"/>
                          </a:solidFill>
                        </a:rPr>
                        <a:t>MAE (d)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A3A8B3"/>
                          </a:solidFill>
                        </a:rPr>
                        <a:t>R SQUARED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B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EEE8"/>
                          </a:solidFill>
                        </a:rPr>
                        <a:t>Mean baseline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7.75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6.60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7A3D"/>
                          </a:solidFill>
                        </a:rPr>
                        <a:t>-0.179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B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Random forest (depth 5)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7.30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6.25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-0.048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Joint K-means (k=10)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7.56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6.40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-0.121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MLP (alpha 0.1)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8.28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6.93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-0.345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6309360" y="36576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WHAT R SQUARED BELOW 0 MEANS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6309360" y="3931920"/>
            <a:ext cx="5330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EEE8"/>
                </a:solidFill>
              </a:rPr>
              <a:t>Predicting the test-period average would have been better than the model. Predictions barely vary with the true time to eruption.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6309360" y="4983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WHY IT IS HARD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6309360" y="5257800"/>
            <a:ext cx="5330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EEE8"/>
                </a:solidFill>
              </a:rPr>
              <a:t>Eruption timing needs a precise clock. Seven or eleven catalog features carry little of it.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48463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SELECTION RULE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1023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RMSE decides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55778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A8B3"/>
                </a:solidFill>
              </a:rPr>
              <a:t>The baseline won on development (RMSE 10.41 d vs 10.69 d for the forest), so it stays selected.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EEE8"/>
                </a:solidFill>
              </a:rPr>
              <a:t>A random split makes the same features look better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12  ·  RANDOM VS TIME-ORDERED</a:t>
            </a:r>
            <a:endParaRPr lang="en-US" sz="1100" dirty="0"/>
          </a:p>
        </p:txBody>
      </p:sp>
      <p:pic>
        <p:nvPicPr>
          <p:cNvPr id="5" name="Image 0" descr="Bar chart comparing AUROC, kappa and R squared for chronological and random spli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4937760" cy="3316158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508760"/>
          <a:ext cx="56967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34440"/>
                <a:gridCol w="1325880"/>
                <a:gridCol w="11247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3A8B3"/>
                          </a:solidFill>
                        </a:rPr>
                        <a:t>TEST METRIC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A3A8B3"/>
                          </a:solidFill>
                        </a:rPr>
                        <a:t>TIME-ORDERED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A3A8B3"/>
                          </a:solidFill>
                        </a:rPr>
                        <a:t>RANDOM (OURS)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B3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A3A8B3"/>
                          </a:solidFill>
                        </a:rPr>
                        <a:t>PAPER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2B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EEE8"/>
                          </a:solidFill>
                        </a:rPr>
                        <a:t>AUROC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7A3D"/>
                          </a:solidFill>
                        </a:rPr>
                        <a:t>0.484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0.685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A3A8B3"/>
                          </a:solidFill>
                        </a:rPr>
                        <a:t>0.71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EEE8"/>
                          </a:solidFill>
                        </a:rPr>
                        <a:t>Kappa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7A3D"/>
                          </a:solidFill>
                        </a:rPr>
                        <a:t>-0.006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0.185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A3A8B3"/>
                          </a:solidFill>
                        </a:rPr>
                        <a:t>0.52*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EEE8"/>
                          </a:solidFill>
                        </a:rPr>
                        <a:t>Regression R squared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7A3D"/>
                          </a:solidFill>
                        </a:rPr>
                        <a:t>-0.179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1EEE8"/>
                          </a:solidFill>
                        </a:rPr>
                        <a:t>0.160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A3A8B3"/>
                          </a:solidFill>
                        </a:rPr>
                        <a:t>0.38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943600" y="3200400"/>
            <a:ext cx="5696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8B3"/>
                </a:solidFill>
              </a:rPr>
              <a:t>* Paper figures, test set; its text quotes kappa 0.42. Each of our splits selects its own models (random: random forest for both tasks).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5943600" y="393192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WHY THE GAP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5943600" y="418795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Swarms leak across a random split</a:t>
            </a:r>
            <a:endParaRPr lang="en-US" sz="2000" dirty="0"/>
          </a:p>
        </p:txBody>
      </p:sp>
      <p:sp>
        <p:nvSpPr>
          <p:cNvPr id="10" name="Text 5"/>
          <p:cNvSpPr txBox="1"/>
          <p:nvPr/>
        </p:nvSpPr>
        <p:spPr>
          <a:xfrm>
            <a:off x="5943600" y="4617720"/>
            <a:ext cx="5696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A8B3"/>
                </a:solidFill>
              </a:rPr>
              <a:t>Quakes from the same swarm land in both train and test, so the test is easier than forecasting a later period.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548640" y="5440680"/>
            <a:ext cx="11064240" cy="0"/>
          </a:xfrm>
          <a:prstGeom prst="line">
            <a:avLst/>
          </a:prstGeom>
          <a:noFill/>
          <a:ln w="9525">
            <a:solidFill>
              <a:srgbClr val="3A3F4A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548640" y="5577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LESSON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58338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design changes the story. A time-ordered test is the fair test for forecasting, even though it gives the less flattering number.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EEE8"/>
                </a:solidFill>
              </a:rPr>
              <a:t>What we conclude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13  ·  CONCLUSION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86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 features are not enough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3A8B3"/>
                </a:solidFill>
              </a:rPr>
              <a:t>On later earthquakes classification AUROC is 0.484 (chance 0.5) and no regressor beats the mean (R squared −0.179).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087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4343400" y="2286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design changes the story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343400" y="30175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3A8B3"/>
                </a:solidFill>
              </a:rPr>
              <a:t>A random split reports AUROC 0.685 on the same features. Time-ordered testing is the fair test.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15087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2286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1E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 did not transfer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30175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3A8B3"/>
                </a:solidFill>
              </a:rPr>
              <a:t>K-means search raised development AUROC to 0.668 but test AUROC was 0.515 (original 0.524). Thresholds leave AUROC unchanged.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4343400"/>
            <a:ext cx="11064240" cy="0"/>
          </a:xfrm>
          <a:prstGeom prst="line">
            <a:avLst/>
          </a:prstGeom>
          <a:noFill/>
          <a:ln w="9525">
            <a:solidFill>
              <a:srgbClr val="3A3F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5262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LIMITS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80060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1EEE8"/>
                </a:solidFill>
              </a:rPr>
              <a:t>Only 19 eruptive quakes in the test window; AUROC bootstrap interval is roughly 0.37-0.68.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1EEE8"/>
                </a:solidFill>
              </a:rPr>
              <a:t>Only 49 eruption entries and a single volcano.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1EEE8"/>
                </a:solidFill>
              </a:rPr>
              <a:t>Scores are not calibrated hazard probabilities. This is not a warning system.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45262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WHAT WOULD HELP NEXT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48006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1EEE8"/>
                </a:solidFill>
              </a:rPr>
              <a:t>Ground deformation and gas emission measurements.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1EEE8"/>
                </a:solidFill>
              </a:rPr>
              <a:t>Focal mechanisms of the earthquakes.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1EEE8"/>
                </a:solidFill>
              </a:rPr>
              <a:t>A longer catalog with more eruptions.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F1EEE8"/>
                </a:solidFill>
              </a:rPr>
              <a:t>Proper probability calibration for any alarm.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EEE8"/>
                </a:solidFill>
              </a:rPr>
              <a:t>Live demo and reproducibility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14  ·  DEMO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6675120" cy="4160520"/>
          </a:xfrm>
          <a:prstGeom prst="rect">
            <a:avLst/>
          </a:prstGeom>
          <a:solidFill>
            <a:srgbClr val="1E2128"/>
          </a:solidFill>
          <a:ln w="12700">
            <a:solidFill>
              <a:srgbClr val="1E212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719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RUN IN THE PROJECT FOLDER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03120"/>
            <a:ext cx="6217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1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unittest discover -s tests -v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7F8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17 tests, all passing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7F8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1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demo.py --row 0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7F8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score one held-out earthquake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7F8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1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src.experiment --protocol chronological \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1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--output-dir tmp/live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7F8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full retrain without touching saved results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7F8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1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scripts/build_figures.py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7F8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rebuild charts from saved results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1554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WHAT THE DEMO SHOWS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18288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EEE8"/>
                </a:solidFill>
              </a:rPr>
              <a:t>A saved model scores a real held-out earthquake: eruption score, class, estimated days, and the true catalog labels beside them.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32461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REPOSITORY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35204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1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notebooks/walkthrough.ipynb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1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graphs.html: all charts and tables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1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output/pdf and output/slides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1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 (scikit-learn 1.7.2)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680960" y="48006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HONEST FRAMING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80960" y="50749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A8B3"/>
                </a:solidFill>
              </a:rPr>
              <a:t>Historical classroom demonstration. Scores are not calibrated probabilities, and the project is not a volcano warning system.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EEE8"/>
                </a:solidFill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A3D"/>
                </a:solidFill>
              </a:rPr>
              <a:t>15  ·  SOURCES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1EEE8"/>
                </a:solidFill>
              </a:rPr>
              <a:t>Mullet, B., Singh, A., &amp; Wong, Y.-Q. (2019). Predicting Eruptive Events at Volcanoes from Earthquake Data. Stanford CS229 project report.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1EEE8"/>
                </a:solidFill>
              </a:rPr>
              <a:t>PEEVED code and bundled catalogs: github.com/bmullet/PEEVED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1EEE8"/>
                </a:solidFill>
              </a:rPr>
              <a:t>Earthquake catalog: Advanced National Seismic System (ANSS), hosted by WOVOdat. Eruption history: Hawaii Center for Volcanology (as bundled in PEEVED).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1EEE8"/>
                </a:solidFill>
              </a:rPr>
              <a:t>Pedregosa, F. et al. (2011). Scikit-learn: Machine Learning in Python. JMLR 12, 2825-2830.</a:t>
            </a:r>
            <a:endParaRPr lang="en-US" sz="1600" dirty="0"/>
          </a:p>
        </p:txBody>
      </p:sp>
      <p:pic>
        <p:nvPicPr>
          <p:cNvPr id="5" name="Image 0" descr="Seismogram trace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0" y="4480560"/>
            <a:ext cx="12191695" cy="1463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EEE8"/>
                </a:solidFill>
              </a:rPr>
              <a:t>Prithvish Adhikari (PES1UG24AM206)  ·  Piyush Shiv (PES1UG24AM191)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846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6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EVED Dark">
  <a:themeElements>
    <a:clrScheme name="PEEVED Dark">
      <a:dk1>
        <a:srgbClr val="14161B"/>
      </a:dk1>
      <a:lt1>
        <a:srgbClr val="F1EEE8"/>
      </a:lt1>
      <a:dk2>
        <a:srgbClr val="1E2128"/>
      </a:dk2>
      <a:lt2>
        <a:srgbClr val="A3A8B3"/>
      </a:lt2>
      <a:accent1>
        <a:srgbClr val="FF7A3D"/>
      </a:accent1>
      <a:accent2>
        <a:srgbClr val="E9B44C"/>
      </a:accent2>
      <a:accent3>
        <a:srgbClr val="6FC2B0"/>
      </a:accent3>
      <a:accent4>
        <a:srgbClr val="7F8696"/>
      </a:accent4>
      <a:accent5>
        <a:srgbClr val="3A3F4A"/>
      </a:accent5>
      <a:accent6>
        <a:srgbClr val="C94F4F"/>
      </a:accent6>
      <a:hlink>
        <a:srgbClr val="E9B44C"/>
      </a:hlink>
      <a:folHlink>
        <a:srgbClr val="A3A8B3"/>
      </a:folHlink>
    </a:clrScheme>
    <a:fontScheme name="PEEVED Dar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Earthquake signals and Kilauea eruptions</dc:title>
  <dc:subject>PptxGenJS Presentation</dc:subject>
  <dc:creator>Prithvish Adhikari, Piyush Shiv</dc:creator>
  <cp:lastModifiedBy>Prithvish Adhikari, Piyush Shiv</cp:lastModifiedBy>
  <cp:revision>1</cp:revision>
  <dcterms:created xsi:type="dcterms:W3CDTF">2026-10-12T19:06:27Z</dcterms:created>
  <dcterms:modified xsi:type="dcterms:W3CDTF">2026-10-12T19:06:27Z</dcterms:modified>
</cp:coreProperties>
</file>