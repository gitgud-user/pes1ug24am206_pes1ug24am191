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d5c02f73314ca0" /><Relationship Type="http://schemas.openxmlformats.org/officeDocument/2006/relationships/extended-properties" Target="/docProps/app.xml" Id="R15e4c139c9624022" /><Relationship Type="http://schemas.openxmlformats.org/officeDocument/2006/relationships/officeDocument" Target="/ppt/presentation.xml" Id="R01d5794ecdd54bf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142d9ee5fbb41af"/>
  </p:sldMasterIdLst>
  <p:notesMasterIdLst>
    <p:notesMasterId xmlns:r="http://schemas.openxmlformats.org/officeDocument/2006/relationships" r:id="R598b9f7f69714a10"/>
  </p:notesMasterIdLst>
  <p:sldIdLst>
    <p:sldId xmlns:r="http://schemas.openxmlformats.org/officeDocument/2006/relationships" id="256" r:id="Rf119822ffbcb48eb"/>
    <p:sldId xmlns:r="http://schemas.openxmlformats.org/officeDocument/2006/relationships" id="257" r:id="R71fe25f3e31649d2"/>
    <p:sldId xmlns:r="http://schemas.openxmlformats.org/officeDocument/2006/relationships" id="258" r:id="R29378216abfe4f35"/>
    <p:sldId xmlns:r="http://schemas.openxmlformats.org/officeDocument/2006/relationships" id="259" r:id="R5ec0cd7e43c04a6e"/>
    <p:sldId xmlns:r="http://schemas.openxmlformats.org/officeDocument/2006/relationships" id="260" r:id="Re477358d03154dd3"/>
    <p:sldId xmlns:r="http://schemas.openxmlformats.org/officeDocument/2006/relationships" id="261" r:id="R75c7537e2c764353"/>
    <p:sldId xmlns:r="http://schemas.openxmlformats.org/officeDocument/2006/relationships" id="262" r:id="R1eb2ab45245741a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4e98ada39514958" /><Relationship Type="http://schemas.openxmlformats.org/officeDocument/2006/relationships/slideMaster" Target="/ppt/slideMasters/slideMaster1.xml" Id="R6142d9ee5fbb41af" /><Relationship Type="http://schemas.openxmlformats.org/officeDocument/2006/relationships/notesMaster" Target="/ppt/notesMasters/notesMaster1.xml" Id="R598b9f7f69714a10" /><Relationship Type="http://schemas.openxmlformats.org/officeDocument/2006/relationships/presProps" Target="/ppt/presProps.xml" Id="R6592270a52f94f96" /><Relationship Type="http://schemas.openxmlformats.org/officeDocument/2006/relationships/tableStyles" Target="/ppt/tableStyles.xml" Id="R5eeaac9d1ce04457" /><Relationship Type="http://schemas.openxmlformats.org/officeDocument/2006/relationships/slide" Target="/ppt/slides/slide1.xml" Id="Rf119822ffbcb48eb" /><Relationship Type="http://schemas.openxmlformats.org/officeDocument/2006/relationships/slide" Target="/ppt/slides/slide2.xml" Id="R71fe25f3e31649d2" /><Relationship Type="http://schemas.openxmlformats.org/officeDocument/2006/relationships/slide" Target="/ppt/slides/slide3.xml" Id="R29378216abfe4f35" /><Relationship Type="http://schemas.openxmlformats.org/officeDocument/2006/relationships/slide" Target="/ppt/slides/slide4.xml" Id="R5ec0cd7e43c04a6e" /><Relationship Type="http://schemas.openxmlformats.org/officeDocument/2006/relationships/slide" Target="/ppt/slides/slide5.xml" Id="Re477358d03154dd3" /><Relationship Type="http://schemas.openxmlformats.org/officeDocument/2006/relationships/slide" Target="/ppt/slides/slide6.xml" Id="R75c7537e2c764353" /><Relationship Type="http://schemas.openxmlformats.org/officeDocument/2006/relationships/slide" Target="/ppt/slides/slide7.xml" Id="R1eb2ab45245741a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0044068a96c4d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f32b4f65de54c0c" /><Relationship Type="http://schemas.openxmlformats.org/officeDocument/2006/relationships/notesMaster" Target="/ppt/notesMasters/notesMaster1.xml" Id="R0a4259b7894a482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30e39ed5224cfc" /><Relationship Type="http://schemas.openxmlformats.org/officeDocument/2006/relationships/notesMaster" Target="/ppt/notesMasters/notesMaster1.xml" Id="Rc717559d3586454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bb8c0735cc4aea" /><Relationship Type="http://schemas.openxmlformats.org/officeDocument/2006/relationships/notesMaster" Target="/ppt/notesMasters/notesMaster1.xml" Id="R4755c084a28d484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7c5a604f41b42ff" /><Relationship Type="http://schemas.openxmlformats.org/officeDocument/2006/relationships/notesMaster" Target="/ppt/notesMasters/notesMaster1.xml" Id="R8ef95bdee30d47b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a40ab0bb731437c" /><Relationship Type="http://schemas.openxmlformats.org/officeDocument/2006/relationships/notesMaster" Target="/ppt/notesMasters/notesMaster1.xml" Id="R3ad581f53e7d4d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ae53ead4ca4a68" /><Relationship Type="http://schemas.openxmlformats.org/officeDocument/2006/relationships/notesMaster" Target="/ppt/notesMasters/notesMaster1.xml" Id="R487ab2e3c050478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b307be1af045b6" /><Relationship Type="http://schemas.openxmlformats.org/officeDocument/2006/relationships/notesMaster" Target="/ppt/notesMasters/notesMaster1.xml" Id="R7fff6d16904d4ea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Reference: Mullet, Singh, and Wong, Predicting Eruptive Events at Volcanoes from Earthquake Data, Stanford CS229, Fall 2019. Catalog and original code: https://github.com/bmullet/PEEVED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Map image and study framing are from the supplied reference repository: https://github.com/bmullet/PEEVED. The paper describes filtering ANSS/WOVOdat earthquakes to the East Rift Zone near Pu'u O'o.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bundled CSV catalogs in https://github.com/bmullet/PEEVED and the supplied Stanford CS229 paper. Counts and label fractions are computed by this project's src/data.py. Past counts use [t - window, t), excluding earthquakes at the current timestamp.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Chronological counts come from results/chronological/metrics.json. The split uses time ordering, 30-day gaps, and prevents labels that depend on a future eruption from crossing into the preceding split. Random split results are reported separately.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Held-out metrics from results/chronological/metrics.json. The development-selected model is class-conditional K-means (k=4). Classification is imbalanced; report AUROC, average precision, kappa, precision, recall, and confusion counts rather than accuracy alone.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Chronological regression test metrics from results/chronological/metrics.json. Development selected the mean baseline. Random-split forest metrics: RMSE 11.02 days, R-squared 0.159. These are separate protocols; the random split may share nearby temporal patterns across train and test.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Conclusion is based on this project's chronological held-out test metrics. The original reference study is Mullet, Singh, and Wong, Predicting Eruptive Events at Volcanoes from Earthquake Data, Stanford CS229, Fall 2019. Project source: https://github.com/bmullet/PEEVED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d2e73c33fa456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aa51d43d864799" /><Relationship Type="http://schemas.openxmlformats.org/officeDocument/2006/relationships/slideLayout" Target="/ppt/slideLayouts/slideLayout1.xml" Id="R865276c84d314c3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5276c84d314c3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90a14a10734aa9" /><Relationship Type="http://schemas.openxmlformats.org/officeDocument/2006/relationships/notesSlide" Target="/ppt/notesSlides/notesSlide1.xml" Id="R7a685c4c186244b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85c769013a48b7" /><Relationship Type="http://schemas.openxmlformats.org/officeDocument/2006/relationships/image" Target="/ppt/media/image.png" Id="R829acb9144f742f3" /><Relationship Type="http://schemas.openxmlformats.org/officeDocument/2006/relationships/notesSlide" Target="/ppt/notesSlides/notesSlide2.xml" Id="R9b7d927d5ebd42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6c488031274605" /><Relationship Type="http://schemas.openxmlformats.org/officeDocument/2006/relationships/notesSlide" Target="/ppt/notesSlides/notesSlide3.xml" Id="Rd92478f373744a0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b8d687f60149fc" /><Relationship Type="http://schemas.openxmlformats.org/officeDocument/2006/relationships/chart" Target="/ppt/slides/charts/chart1.xml" Id="R677c7e5617224a23" /><Relationship Type="http://schemas.openxmlformats.org/officeDocument/2006/relationships/notesSlide" Target="/ppt/notesSlides/notesSlide4.xml" Id="Rab155b4268e6423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ffa4e16e714f69" /><Relationship Type="http://schemas.openxmlformats.org/officeDocument/2006/relationships/chart" Target="/ppt/slides/charts/chart2.xml" Id="R81029898ded04348" /><Relationship Type="http://schemas.openxmlformats.org/officeDocument/2006/relationships/notesSlide" Target="/ppt/notesSlides/notesSlide5.xml" Id="R95e239773159404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9481620c2c4b06" /><Relationship Type="http://schemas.openxmlformats.org/officeDocument/2006/relationships/chart" Target="/ppt/slides/charts/chart3.xml" Id="R4da6d6d57c314c15" /><Relationship Type="http://schemas.openxmlformats.org/officeDocument/2006/relationships/notesSlide" Target="/ppt/notesSlides/notesSlide6.xml" Id="Raf02590708c74b8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bcb3ba23154cd8" /><Relationship Type="http://schemas.openxmlformats.org/officeDocument/2006/relationships/notesSlide" Target="/ppt/notesSlides/notesSlide7.xml" Id="R06ed5e88ceb8431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Earthquakes</c:v>
          </c:tx>
          <c:spPr>
            <a:solidFill xmlns:a="http://schemas.openxmlformats.org/drawingml/2006/main">
              <a:srgbClr val="087E8B"/>
            </a:solidFill>
          </c:spPr>
          <c:cat>
            <c:strRef>
              <c:f>'Chart Data'!$A$2:$A$4</c:f>
              <c:strCache>
                <c:ptCount val="3"/>
                <c:pt idx="0">
                  <c:v>Train</c:v>
                </c:pt>
                <c:pt idx="1">
                  <c:v>Development</c:v>
                </c:pt>
                <c:pt idx="2">
                  <c:v>Test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2023</c:v>
                </c:pt>
                <c:pt idx="1">
                  <c:v>519</c:v>
                </c:pt>
                <c:pt idx="2">
                  <c:v>296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majorGridlines>
          <c:spPr>
            <a:ln xmlns:a="http://schemas.openxmlformats.org/drawingml/2006/main" w="9525">
              <a:solidFill>
                <a:srgbClr val="EAF1F5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0748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Test AUROC</c:v>
          </c:tx>
          <c:spPr>
            <a:solidFill xmlns:a="http://schemas.openxmlformats.org/drawingml/2006/main">
              <a:srgbClr val="087E8B"/>
            </a:solidFill>
          </c:spPr>
          <c:cat>
            <c:strRef>
              <c:f>'Chart Data'!$A$2:$A$6</c:f>
              <c:strCache>
                <c:ptCount val="5"/>
                <c:pt idx="0">
                  <c:v>Prior</c:v>
                </c:pt>
                <c:pt idx="1">
                  <c:v>Logistic</c:v>
                </c:pt>
                <c:pt idx="2">
                  <c:v>Forest</c:v>
                </c:pt>
                <c:pt idx="3">
                  <c:v>K-means</c:v>
                </c:pt>
                <c:pt idx="4">
                  <c:v>MLP</c:v>
                </c:pt>
              </c:strCache>
            </c:strRef>
          </c:cat>
          <c:val>
            <c:numRef>
              <c:f>'Chart Data'!$B$2:$B$6</c:f>
              <c:numCache>
                <c:formatCode>0.000</c:formatCode>
                <c:ptCount val="5"/>
                <c:pt idx="0">
                  <c:v>0.5</c:v>
                </c:pt>
                <c:pt idx="1">
                  <c:v>0.502</c:v>
                </c:pt>
                <c:pt idx="2">
                  <c:v>0.347</c:v>
                </c:pt>
                <c:pt idx="3">
                  <c:v>0.524</c:v>
                </c:pt>
                <c:pt idx="4">
                  <c:v>0.469</c:v>
                </c:pt>
              </c:numCache>
            </c:numRef>
          </c:val>
        </c:ser>
        <c:ser>
          <c:idx val="1"/>
          <c:order val="1"/>
          <c:tx>
            <c:v>Chance</c:v>
          </c:tx>
          <c:spPr>
            <a:solidFill xmlns:a="http://schemas.openxmlformats.org/drawingml/2006/main">
              <a:srgbClr val="B9C9D2"/>
            </a:solidFill>
          </c:spPr>
          <c:cat>
            <c:strRef>
              <c:f>'Chart Data'!$C$2:$C$6</c:f>
              <c:strCache>
                <c:ptCount val="5"/>
                <c:pt idx="0">
                  <c:v>Prior</c:v>
                </c:pt>
                <c:pt idx="1">
                  <c:v>Logistic</c:v>
                </c:pt>
                <c:pt idx="2">
                  <c:v>Forest</c:v>
                </c:pt>
                <c:pt idx="3">
                  <c:v>K-means</c:v>
                </c:pt>
                <c:pt idx="4">
                  <c:v>MLP</c:v>
                </c:pt>
              </c:strCache>
            </c:strRef>
          </c:cat>
          <c:val>
            <c:numRef>
              <c:f>'Chart Data'!$D$2:$D$6</c:f>
              <c:numCache>
                <c:formatCode>0.000</c:formatCode>
                <c:ptCount val="5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12304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AF1F5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0748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253746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Test RMSE (days)</c:v>
          </c:tx>
          <c:spPr>
            <a:solidFill xmlns:a="http://schemas.openxmlformats.org/drawingml/2006/main">
              <a:srgbClr val="3B82A0"/>
            </a:solidFill>
          </c:spPr>
          <c:cat>
            <c:strRef>
              <c:f>'Chart Data'!$A$2:$A$5</c:f>
              <c:strCache>
                <c:ptCount val="4"/>
                <c:pt idx="0">
                  <c:v>Mean</c:v>
                </c:pt>
                <c:pt idx="1">
                  <c:v>Forest</c:v>
                </c:pt>
                <c:pt idx="2">
                  <c:v>K-means</c:v>
                </c:pt>
                <c:pt idx="3">
                  <c:v>MLP</c:v>
                </c:pt>
              </c:strCache>
            </c:strRef>
          </c:cat>
          <c:val>
            <c:numRef>
              <c:f>'Chart Data'!$B$2:$B$5</c:f>
              <c:numCache>
                <c:formatCode>0.00</c:formatCode>
                <c:ptCount val="4"/>
                <c:pt idx="0">
                  <c:v>7.75</c:v>
                </c:pt>
                <c:pt idx="1">
                  <c:v>7.3</c:v>
                </c:pt>
                <c:pt idx="2">
                  <c:v>7.56</c:v>
                </c:pt>
                <c:pt idx="3">
                  <c:v>8.28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 b="1">
                  <a:solidFill>
                    <a:srgbClr val="12304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AF1F5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0748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30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8B38C6-3F1D-467B-BDE9-576D9D60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762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A23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D99C44-5252-4FF5-9292-822CEFB95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047750"/>
            <a:ext cx="9525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Earthquake signals and</a:t>
            </a:r>
          </a:p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Kilauea eruption activity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ADC98-453C-412B-88CB-D2407DEAC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00375"/>
            <a:ext cx="876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DCE8E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DCE8EF"/>
                </a:solidFill>
                <a:latin typeface="Arial"/>
                <a:ea typeface="Arial"/>
                <a:cs typeface="Arial"/>
              </a:rPr>
              <a:t>A time-ordered machine-learning study of Pu'u O'o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91B1DF-624D-4364-AE2E-46983032A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95300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A9C5D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C5D2"/>
                </a:solidFill>
                <a:latin typeface="Arial"/>
                <a:ea typeface="Arial"/>
                <a:cs typeface="Arial"/>
              </a:rPr>
              <a:t>CS352A Machine Learning Mini-Project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E97C94-CCD9-4159-8B78-87EADA42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381625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9C5D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9C5D2"/>
                </a:solidFill>
                <a:latin typeface="Arial"/>
                <a:ea typeface="Arial"/>
                <a:cs typeface="Arial"/>
              </a:rPr>
              <a:t>From the PEEVED Stanford CS229 study and its bundled catalogs</a:t>
            </a:r>
          </a:p>
        </p:txBody>
      </p:sp>
    </p:spTree>
    <p:extLst>
      <p:ext uri="{BB962C8B-B14F-4D97-AF65-F5344CB8AC3E}">
        <p14:creationId xmlns:p14="http://schemas.microsoft.com/office/powerpoint/2010/main" val="3257636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3378D3-8198-4414-A56F-840D31BB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23047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23047"/>
                </a:solidFill>
                <a:latin typeface="Arial"/>
                <a:ea typeface="Arial"/>
                <a:cs typeface="Arial"/>
              </a:rPr>
              <a:t>Study area and prediction tasks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A4076E-ECA8-45C9-B024-45A09311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1085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A23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904478-1F65-4317-B9DC-E6D223782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074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486"/>
                </a:solidFill>
                <a:latin typeface="Arial"/>
                <a:ea typeface="Arial"/>
                <a:cs typeface="Arial"/>
              </a:rPr>
              <a:t>2 / 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61AE5F-F631-4735-98F1-ED9C098B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57325"/>
            <a:ext cx="1038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591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53746"/>
                </a:solidFill>
                <a:latin typeface="Arial"/>
                <a:ea typeface="Arial"/>
                <a:cs typeface="Arial"/>
              </a:rPr>
              <a:t>Can earthquake records identify an active eruption or estimate time to the next onset?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602624-5E6A-45A6-85C8-6031ABA01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2 tasks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2D6E61-518B-4848-A21B-08E3C8BD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9875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889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2304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23047"/>
                </a:solidFill>
                <a:latin typeface="Arial"/>
                <a:ea typeface="Arial"/>
                <a:cs typeface="Arial"/>
              </a:rPr>
              <a:t>Classification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6CF051-E998-4362-807C-6DC103DC9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28975"/>
            <a:ext cx="447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Is Pu'u O'o erupting when an earthquake occurs?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C51049-D126-4E5D-A14D-DE2301BC8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38625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889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2304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23047"/>
                </a:solidFill>
                <a:latin typeface="Arial"/>
                <a:ea typeface="Arial"/>
                <a:cs typeface="Arial"/>
              </a:rPr>
              <a:t>Regression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6EB360-9BDA-4ED2-BE5C-B6A9ADAD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57725"/>
            <a:ext cx="447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How many days until the next catalog onset?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9acb9144f742f3"/>
          <a:stretch xmlns:a="http://schemas.openxmlformats.org/drawingml/2006/main"/>
        </p:blipFill>
        <p:spPr>
          <a:xfrm xmlns:a="http://schemas.openxmlformats.org/drawingml/2006/main">
            <a:off x="5648325" y="2190750"/>
            <a:ext cx="5562600" cy="347662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5189B0-1B48-4C71-B60C-F71F337C1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1500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48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486"/>
                </a:solidFill>
                <a:latin typeface="Arial"/>
                <a:ea typeface="Arial"/>
                <a:cs typeface="Arial"/>
              </a:rPr>
              <a:t>East Rift Zone earthquake catalog</a:t>
            </a:r>
          </a:p>
        </p:txBody>
      </p:sp>
    </p:spTree>
    <p:extLst>
      <p:ext uri="{BB962C8B-B14F-4D97-AF65-F5344CB8AC3E}">
        <p14:creationId xmlns:p14="http://schemas.microsoft.com/office/powerpoint/2010/main" val="10754045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D42715-1CF5-43EA-B8F3-1F2A44E9C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23047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23047"/>
                </a:solidFill>
                <a:latin typeface="Arial"/>
                <a:ea typeface="Arial"/>
                <a:cs typeface="Arial"/>
              </a:rPr>
              <a:t>2,960 earthquakes become seven features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9570F-9F3E-4551-B7C5-00DAB869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1085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A23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909DB2-A07B-4B5B-BF24-AE6FF1799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074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486"/>
                </a:solidFill>
                <a:latin typeface="Arial"/>
                <a:ea typeface="Arial"/>
                <a:cs typeface="Arial"/>
              </a:rPr>
              <a:t>3 / 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D11E76-8D07-410C-BD2D-914B3AFA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438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2304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23047"/>
                </a:solidFill>
                <a:latin typeface="Arial"/>
                <a:ea typeface="Arial"/>
                <a:cs typeface="Arial"/>
              </a:rPr>
              <a:t>4 catalog measurements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348B08-CD3F-4E7D-8900-3B5BA9A5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590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Longitude, latitude, depth, magnitude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8353E1-7C29-4869-ACB8-B8300488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5429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D6EAB9-7814-431A-901C-F9F3C0380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14675"/>
            <a:ext cx="438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3 past-only rates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E0A9BC-304A-4DFF-89E3-1B8F9411F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90925"/>
            <a:ext cx="590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Earthquake counts in the previous 1, 7, and 30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689161-0380-4AB1-AF47-1C6AABED9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9575"/>
            <a:ext cx="5429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D91C5D-44C6-4BE6-9C80-39A0926C4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9600"/>
            <a:ext cx="438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2 targets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DE126A-5EEE-49DA-90F9-69E4C42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95850"/>
            <a:ext cx="590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Erupting now, and days to next onset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15BFC7-A306-4FB6-81E6-ED1DD78D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28800"/>
            <a:ext cx="3714750" cy="3571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AEB1A0-50C5-4DE0-903D-9738C551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76450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2304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3047"/>
                </a:solidFill>
                <a:latin typeface="Arial"/>
                <a:ea typeface="Arial"/>
                <a:cs typeface="Arial"/>
              </a:rPr>
              <a:t>Catalog audit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8F14F5-B775-4906-8F90-BE241219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47950"/>
            <a:ext cx="3190875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6,485 earthquake rows</a:t>
            </a:r>
          </a:p>
          <a:p xmlns:a="http://schemas.openxmlformats.org/drawingml/2006/main">
            <a:pPr>
              <a:defRPr sz="1650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3,764 East Rift Zone</a:t>
            </a:r>
          </a:p>
          <a:p xmlns:a="http://schemas.openxmlformats.org/drawingml/2006/main">
            <a:pPr>
              <a:defRPr sz="1650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2,960 modeled examples</a:t>
            </a:r>
          </a:p>
          <a:p xmlns:a="http://schemas.openxmlformats.org/drawingml/2006/main">
            <a:pPr>
              <a:defRPr sz="1650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304 eruptive labels (10.3%)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F3BF59-3C16-4458-96BD-64F0F6D0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86300"/>
            <a:ext cx="319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062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0748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7486"/>
                </a:solidFill>
                <a:latin typeface="Arial"/>
                <a:ea typeface="Arial"/>
                <a:cs typeface="Arial"/>
              </a:rPr>
              <a:t>Episode 48's corrupted duration is excluded by cutting coverage at its known onset.</a:t>
            </a:r>
          </a:p>
        </p:txBody>
      </p:sp>
    </p:spTree>
    <p:extLst>
      <p:ext uri="{BB962C8B-B14F-4D97-AF65-F5344CB8AC3E}">
        <p14:creationId xmlns:p14="http://schemas.microsoft.com/office/powerpoint/2010/main" val="17858468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53060A-1436-47EE-92DA-5F42410C3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23047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23047"/>
                </a:solidFill>
                <a:latin typeface="Arial"/>
                <a:ea typeface="Arial"/>
                <a:cs typeface="Arial"/>
              </a:rPr>
              <a:t>Chronological holdout tests later earthquakes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1F8A4F-266B-49FA-ADC9-361798D4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1085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A23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F2A2DF-B839-4883-8F5E-75CEEA9C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074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486"/>
                </a:solidFill>
                <a:latin typeface="Arial"/>
                <a:ea typeface="Arial"/>
                <a:cs typeface="Arial"/>
              </a:rPr>
              <a:t>4 / 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A09197-501F-4553-9B57-8C363971C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53746"/>
                </a:solidFill>
                <a:latin typeface="Arial"/>
                <a:ea typeface="Arial"/>
                <a:cs typeface="Arial"/>
              </a:rPr>
              <a:t>Models are selected on development data; the test period is evaluated once.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800100" y="2238375"/>
          <a:ext xmlns:a="http://schemas.openxmlformats.org/drawingml/2006/main" cx="61912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77c7e5617224a23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7075DE-42CB-48AA-9E30-8717FC58C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09825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118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2304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23047"/>
                </a:solidFill>
                <a:latin typeface="Arial"/>
                <a:ea typeface="Arial"/>
                <a:cs typeface="Arial"/>
              </a:rPr>
              <a:t>70%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9C17AD-2B3E-4BE9-B93F-71047C702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09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48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486"/>
                </a:solidFill>
                <a:latin typeface="Arial"/>
                <a:ea typeface="Arial"/>
                <a:cs typeface="Arial"/>
              </a:rPr>
              <a:t>train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C84E82-66A8-457A-9B4F-247D9A34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718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118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20%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0A38EC-FC5C-4426-A157-69FA2253E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719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48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486"/>
                </a:solidFill>
                <a:latin typeface="Arial"/>
                <a:ea typeface="Arial"/>
                <a:cs typeface="Arial"/>
              </a:rPr>
              <a:t>development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9CB90E-8B04-47F6-939B-D051C2F9A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33875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118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9A2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9A23B"/>
                </a:solidFill>
                <a:latin typeface="Arial"/>
                <a:ea typeface="Arial"/>
                <a:cs typeface="Arial"/>
              </a:rPr>
              <a:t>10%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2BE679-E609-49B1-AC42-744E4F31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3392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48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486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99AC9C-436D-4110-AFC6-9D5DD47B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238750"/>
            <a:ext cx="323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30-day gap plus label-availability checks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A29156-6D8B-49E0-B8CD-70CA5325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67375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3746"/>
                </a:solidFill>
                <a:latin typeface="Arial"/>
                <a:ea typeface="Arial"/>
                <a:cs typeface="Arial"/>
              </a:rPr>
              <a:t>Rows: 2,023 train   |   519 development   |   296 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2A536C-B830-45EA-A382-0FDACBFC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8170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074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07486"/>
                </a:solidFill>
                <a:latin typeface="Arial"/>
                <a:ea typeface="Arial"/>
                <a:cs typeface="Arial"/>
              </a:rPr>
              <a:t>The random split is shown only as a comparison.</a:t>
            </a:r>
          </a:p>
        </p:txBody>
      </p:sp>
    </p:spTree>
    <p:extLst>
      <p:ext uri="{BB962C8B-B14F-4D97-AF65-F5344CB8AC3E}">
        <p14:creationId xmlns:p14="http://schemas.microsoft.com/office/powerpoint/2010/main" val="17779360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19349D-8C50-4393-9A85-A227DA2F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23047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23047"/>
                </a:solidFill>
                <a:latin typeface="Arial"/>
                <a:ea typeface="Arial"/>
                <a:cs typeface="Arial"/>
              </a:rPr>
              <a:t>Classification has weak future-period skill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C03679-11A7-4EAC-B56F-A9F717615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1085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A23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8B859C-B6A7-494D-84FE-05FB8EFF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074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486"/>
                </a:solidFill>
                <a:latin typeface="Arial"/>
                <a:ea typeface="Arial"/>
                <a:cs typeface="Arial"/>
              </a:rPr>
              <a:t>5 / 7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685800" y="1666875"/>
          <a:ext xmlns:a="http://schemas.openxmlformats.org/drawingml/2006/main" cx="723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1029898ded04348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F9B422-F439-4058-AB4D-FE3F6BC9B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81200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181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2304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23047"/>
                </a:solidFill>
                <a:latin typeface="Arial"/>
                <a:ea typeface="Arial"/>
                <a:cs typeface="Arial"/>
              </a:rPr>
              <a:t>Development chose K-means (k=4)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E917D7-F308-47DB-B0BB-87A3444C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575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AUROC 0.524</a:t>
            </a:r>
          </a:p>
          <a:p xmlns:a="http://schemas.openxmlformats.org/drawingml/2006/main">
            <a:pPr>
              <a:defRPr sz="1800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Kappa -0.012</a:t>
            </a:r>
          </a:p>
          <a:p xmlns:a="http://schemas.openxmlformats.org/drawingml/2006/main">
            <a:pPr>
              <a:defRPr sz="1800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Recall 0.632</a:t>
            </a:r>
          </a:p>
          <a:p xmlns:a="http://schemas.openxmlformats.org/drawingml/2006/main">
            <a:pPr>
              <a:defRPr sz="1800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Precision 0.058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081D29-5460-4DF2-83C3-77E23F38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62500"/>
            <a:ext cx="295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44E5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44E52"/>
                </a:solidFill>
                <a:latin typeface="Arial"/>
                <a:ea typeface="Arial"/>
                <a:cs typeface="Arial"/>
              </a:rPr>
              <a:t>12 of 19 eruptive cases found</a:t>
            </a:r>
          </a:p>
          <a:p xmlns:a="http://schemas.openxmlformats.org/drawingml/2006/main">
            <a:pPr>
              <a:defRPr sz="1350" b="1">
                <a:solidFill>
                  <a:srgbClr val="C44E5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44E52"/>
                </a:solidFill>
                <a:latin typeface="Arial"/>
                <a:ea typeface="Arial"/>
                <a:cs typeface="Arial"/>
              </a:rPr>
              <a:t>194 repose cases flagged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C641B4-871C-4B99-B04F-8AE927A25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619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48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486"/>
                </a:solidFill>
                <a:latin typeface="Arial"/>
                <a:ea typeface="Arial"/>
                <a:cs typeface="Arial"/>
              </a:rPr>
              <a:t>Test prevalence: 6.4%</a:t>
            </a:r>
          </a:p>
        </p:txBody>
      </p:sp>
    </p:spTree>
    <p:extLst>
      <p:ext uri="{BB962C8B-B14F-4D97-AF65-F5344CB8AC3E}">
        <p14:creationId xmlns:p14="http://schemas.microsoft.com/office/powerpoint/2010/main" val="2469430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8847F2-6A10-40E0-9867-C2B86E39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23047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23047"/>
                </a:solidFill>
                <a:latin typeface="Arial"/>
                <a:ea typeface="Arial"/>
                <a:cs typeface="Arial"/>
              </a:rPr>
              <a:t>Time-to-eruption regression remains unreliable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B570EC-55AE-40CC-B7B9-2CCA00968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1085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A23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FD22FF-A294-4657-96C8-223215188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074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486"/>
                </a:solidFill>
                <a:latin typeface="Arial"/>
                <a:ea typeface="Arial"/>
                <a:cs typeface="Arial"/>
              </a:rPr>
              <a:t>6 / 7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704850" y="1809750"/>
          <a:ext xmlns:a="http://schemas.openxmlformats.org/drawingml/2006/main" cx="72390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da6d6d57c314c15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D64680-6C73-449A-8F3D-8ACFD3CE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07645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2304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23047"/>
                </a:solidFill>
                <a:latin typeface="Arial"/>
                <a:ea typeface="Arial"/>
                <a:cs typeface="Arial"/>
              </a:rPr>
              <a:t>Development selected the mean baseline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4381FC-B387-434A-BD60-A5D8C583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000375"/>
            <a:ext cx="285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Test RMSE 7.75 days</a:t>
            </a:r>
          </a:p>
          <a:p xmlns:a="http://schemas.openxmlformats.org/drawingml/2006/main">
            <a:pPr>
              <a:defRPr sz="1725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MAE 6.60 days</a:t>
            </a:r>
          </a:p>
          <a:p xmlns:a="http://schemas.openxmlformats.org/drawingml/2006/main">
            <a:pPr>
              <a:defRPr sz="1725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R-squared -0.179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193FE5-7B19-4131-BECE-E8D0EADDC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62500"/>
            <a:ext cx="295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44E5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C44E52"/>
                </a:solidFill>
                <a:latin typeface="Arial"/>
                <a:ea typeface="Arial"/>
                <a:cs typeface="Arial"/>
              </a:rPr>
              <a:t>Every model has negative test R-squared.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787A0B-D1A9-450E-91BA-9548132B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95950"/>
            <a:ext cx="1000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48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486"/>
                </a:solidFill>
                <a:latin typeface="Arial"/>
                <a:ea typeface="Arial"/>
                <a:cs typeface="Arial"/>
              </a:rPr>
              <a:t>Random split AUROC is higher, though neighboring periods can overlap across splits.</a:t>
            </a:r>
          </a:p>
        </p:txBody>
      </p:sp>
    </p:spTree>
    <p:extLst>
      <p:ext uri="{BB962C8B-B14F-4D97-AF65-F5344CB8AC3E}">
        <p14:creationId xmlns:p14="http://schemas.microsoft.com/office/powerpoint/2010/main" val="1705371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8D021F-5E44-4902-9F43-92CD8389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23047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23047"/>
                </a:solidFill>
                <a:latin typeface="Arial"/>
                <a:ea typeface="Arial"/>
                <a:cs typeface="Arial"/>
              </a:rPr>
              <a:t>The earthquake catalog alone is not enough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B473DB-652A-46A9-A941-06A282BB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1085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A23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BB6A69-F21D-426F-9842-69DD61BE6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074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486"/>
                </a:solidFill>
                <a:latin typeface="Arial"/>
                <a:ea typeface="Arial"/>
                <a:cs typeface="Arial"/>
              </a:rPr>
              <a:t>7 / 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C92032-E0E8-4FE4-83BA-3C1497FE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383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What this project shows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20C2D6-94E1-41B8-987C-8876CB69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5810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621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Chronological classification is close to chance and has low precision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Time-to-eruption models do not beat a mean reference by R-squared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Ground deformation, gas, or focal mechanisms could add useful information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5960B7-2805-4D61-B44D-B08137EE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71650"/>
            <a:ext cx="41910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13CB80-4384-4947-89D2-E1642226A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1145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2304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23047"/>
                </a:solidFill>
                <a:latin typeface="Arial"/>
                <a:ea typeface="Arial"/>
                <a:cs typeface="Arial"/>
              </a:rPr>
              <a:t>Live demonstration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0C9A61-F0EC-41DD-A6E1-F0737D52E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762250"/>
            <a:ext cx="342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375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python -m src.experiment --protocol both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25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53746"/>
                </a:solidFill>
                <a:latin typeface="Arial"/>
                <a:ea typeface="Arial"/>
                <a:cs typeface="Arial"/>
              </a:rPr>
              <a:t>python demo.py --row 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E02639-6730-478F-B5F7-41215770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048125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0748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7486"/>
                </a:solidFill>
                <a:latin typeface="Arial"/>
                <a:ea typeface="Arial"/>
                <a:cs typeface="Arial"/>
              </a:rPr>
              <a:t>Historical classroom analysis. Scores are not calibrated hazard probabilities.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43836F-A0F4-4063-B74C-0741AB8DD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1038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0748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7486"/>
                </a:solidFill>
                <a:latin typeface="Arial"/>
                <a:ea typeface="Arial"/>
                <a:cs typeface="Arial"/>
              </a:rPr>
              <a:t>Source study: Mullet, Singh, and Wong, Stanford CS229, Fall 2019. Code and data: github.com/bmullet/PEEVED.</a:t>
            </a:r>
          </a:p>
        </p:txBody>
      </p:sp>
    </p:spTree>
    <p:extLst>
      <p:ext uri="{BB962C8B-B14F-4D97-AF65-F5344CB8AC3E}">
        <p14:creationId xmlns:p14="http://schemas.microsoft.com/office/powerpoint/2010/main" val="11078875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2026-09-29T08:54:38.0320000Z</dcterms:created>
  <dcterms:modified xsi:type="dcterms:W3CDTF">2026-09-29T08:54:38.0320000Z</dcterms:modified>
</coreProperties>
</file>