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b2d2cd3-3c77-6216-7dfc-1121f4d674e1}">
          <p14:sldIdLst>
            <p14:sldId id="256"/>
            <p14:sldId id="257"/>
          </p14:sldIdLst>
        </p14:section>
        <p14:section name="Data and method" id="{2f515a96-567a-0fed-b57f-44de33dc07ed}">
          <p14:sldIdLst>
            <p14:sldId id="258"/>
            <p14:sldId id="259"/>
            <p14:sldId id="260"/>
            <p14:sldId id="261"/>
          </p14:sldIdLst>
        </p14:section>
        <p14:section name="Results" id="{1c06d04e-0e75-a9fc-304a-976a7220f870}">
          <p14:sldIdLst>
            <p14:sldId id="262"/>
            <p14:sldId id="263"/>
            <p14:sldId id="264"/>
          </p14:sldIdLst>
        </p14:section>
        <p14:section name="Conclusion" id="{2d54035a-0f4b-3bd8-9dca-b69a6514b3a5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Earthquakes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Raw catalog</c:v>
                  </c:pt>
                  <c:pt idx="1">
                    <c:v>East Rift Zone</c:v>
                  </c:pt>
                  <c:pt idx="2">
                    <c:v>Modeled</c:v>
                  </c:pt>
                  <c:pt idx="3">
                    <c:v>During an eruption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6485</c:v>
                </c:pt>
                <c:pt idx="1">
                  <c:v>3764</c:v>
                </c:pt>
                <c:pt idx="2">
                  <c:v>2960</c:v>
                </c:pt>
                <c:pt idx="3">
                  <c:v>304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+mn-lt"/>
              </a:rPr>
              <a:t>Test AUROC by model (0.5 = chance)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AUROC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Prior baseline</c:v>
                  </c:pt>
                  <c:pt idx="1">
                    <c:v>Logistic</c:v>
                  </c:pt>
                  <c:pt idx="2">
                    <c:v>Random forest</c:v>
                  </c:pt>
                  <c:pt idx="3">
                    <c:v>K-means</c:v>
                  </c:pt>
                  <c:pt idx="4">
                    <c:v>MLP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</c:v>
                </c:pt>
                <c:pt idx="1">
                  <c:v>0.502</c:v>
                </c:pt>
                <c:pt idx="2">
                  <c:v>0.373</c:v>
                </c:pt>
                <c:pt idx="3">
                  <c:v>0.524</c:v>
                </c:pt>
                <c:pt idx="4">
                  <c:v>0.469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+mn-lt"/>
              </a:rPr>
              <a:t>Test RMSE in days (lower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RMSE (days)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0.00 &quot;d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Mean baseline</c:v>
                  </c:pt>
                  <c:pt idx="1">
                    <c:v>Random forest</c:v>
                  </c:pt>
                  <c:pt idx="2">
                    <c:v>Joint K-means</c:v>
                  </c:pt>
                  <c:pt idx="3">
                    <c:v>MLP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7.75</c:v>
                </c:pt>
                <c:pt idx="1">
                  <c:v>7.3</c:v>
                </c:pt>
                <c:pt idx="2">
                  <c:v>7.56</c:v>
                </c:pt>
                <c:pt idx="3">
                  <c:v>8.28</c:v>
                </c:pt>
              </c:numCache>
            </c:numRef>
          </c:val>
        </c:ser>
        <c:dLbls>
          <c:numFmt formatCode="0.00 &quot;d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Time-ordered split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AUROC</c:v>
                  </c:pt>
                  <c:pt idx="1">
                    <c:v>Cohen's kappa</c:v>
                  </c:pt>
                  <c:pt idx="2">
                    <c:v>Regression R²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0.524</c:v>
                </c:pt>
                <c:pt idx="1">
                  <c:v>-0.012</c:v>
                </c:pt>
                <c:pt idx="2">
                  <c:v>-0.179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split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AUROC</c:v>
                  </c:pt>
                  <c:pt idx="1">
                    <c:v>Cohen's kappa</c:v>
                  </c:pt>
                  <c:pt idx="2">
                    <c:v>Regression R²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0.682</c:v>
                </c:pt>
                <c:pt idx="1">
                  <c:v>0.114</c:v>
                </c:pt>
                <c:pt idx="2">
                  <c:v>0.16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-0.4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341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We adapt Mullet, Singh and Wong's Stanford CS229 project (PEEVED, 2019) on Kilauea earthquakes and eruptions, and add a time-ordered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tasks from the PEEVED paper. Each earthquake has time, location, depth and magnitude. Map drawn from our modeled rows; Pu'u 'O'o coordinates from the original RunMLTests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 from results/chronological/metrics.json: 6485 raw rows, 3764 East Rift, 2960 modeled, 304 erupting. Labels: inside an episode's duration plus a 24-hour buffer.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Re-implemented PuuOo.was_erupting from reference/PEEVED/util/datautil.py; on our modeled rows the labels agree 100%. On all 3,764 East Rift quakes it gives 22.4% positives (paper: about 20%).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70/20/10 by time, 30-day gaps, and training labels must be known before the next window starts. The random split from the paper is kept only as a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Grids from src/experiment.py candidates(). Selection metric: development AUROC for classification, development RMSE in days for regression.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results/chronological/metrics.json. Test window has 296 earthquakes, 19 erupting. Bootstrap 95% interval for AUROC roughly 0.37-0.68. Random forest falls below chance (0.373).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Regression test metrics from results/chronological/metrics.json. MAE of the selected baseline: 6.60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split, scikit-learn 1.7.2: selected forest (depth=None) for classification and forest for regression; RMSE 11.01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main finding, the evaluation lesson, and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live demo, run the tests and demo.py. Use --output-dir for a live retrain so the committed results and models are not overwritten.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for all data, code and methods.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Earthquake signals and Kilauea eruptions  ·  Adhikari &amp; Shiv  ·  UE24CS352A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UE24CS352A MACHINE LEARNING  ·  MINI-PROJECT REVIEW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Earthquake signals and Kilauea eruptions</a:t>
            </a:r>
            <a:endParaRPr lang="en-US" sz="4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49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Adapting the PEEVED study with a time-ordered evaluation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074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Prithvish Adhikari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3"/>
                </a:solidFill>
              </a:rPr>
              <a:t>   PES1UG24AM206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Piyush Shiv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3"/>
                </a:solidFill>
              </a:rPr>
              <a:t>   PES1UG24AM191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0" y="5577840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 earthquakes tell us when Pu'u 'Ō'ō erupts?</a:t>
            </a:r>
            <a:endParaRPr lang="en-US" sz="3000" dirty="0"/>
          </a:p>
        </p:txBody>
      </p:sp>
      <p:pic>
        <p:nvPicPr>
          <p:cNvPr id="3" name="Study area map" descr="/home/claude/p2/ML_Mini_Project/output/figures/study_area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766560" cy="37724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2578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Epicentres coloured by depth; triangle marks Pu'u 'Ō'ō. Catalog: ANSS via WOVOdat.</a:t>
            </a:r>
            <a:endParaRPr lang="en-US" sz="1100" dirty="0"/>
          </a:p>
        </p:txBody>
      </p:sp>
      <p:sp>
        <p:nvSpPr>
          <p:cNvPr id="5" name="Task 1 card"/>
          <p:cNvSpPr/>
          <p:nvPr/>
        </p:nvSpPr>
        <p:spPr>
          <a:xfrm>
            <a:off x="7680960" y="1371600"/>
            <a:ext cx="395935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TASK 1  ·  CLASSIFICATION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18745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Is the volcano erupting when this earthquake happens?</a:t>
            </a:r>
            <a:endParaRPr lang="en-US" sz="1700" dirty="0"/>
          </a:p>
        </p:txBody>
      </p:sp>
      <p:sp>
        <p:nvSpPr>
          <p:cNvPr id="8" name="Task 2 card"/>
          <p:cNvSpPr/>
          <p:nvPr/>
        </p:nvSpPr>
        <p:spPr>
          <a:xfrm>
            <a:off x="7680960" y="3337560"/>
            <a:ext cx="395935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5528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TASK 2  ·  REGRESSION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3840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How many days until the next eruptive episode begins?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5349240"/>
            <a:ext cx="3959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Source study: Mullet, Singh &amp; Wong, Stanford CS229 (2019). We keep its data and features and change how it is evaluated.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2,960 earthquakes, seven features each</a:t>
            </a:r>
            <a:endParaRPr lang="en-US" sz="3000" dirty="0"/>
          </a:p>
        </p:txBody>
      </p:sp>
      <p:graphicFrame>
        <p:nvGraphicFramePr>
          <p:cNvPr id="3" name="Data funnel chart" descr=""/>
          <p:cNvGraphicFramePr/>
          <p:nvPr/>
        </p:nvGraphicFramePr>
        <p:xfrm>
          <a:off x="457200" y="1280160"/>
          <a:ext cx="6583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406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East Rift filter keeps 3,764 earthquakes, the same count as the paper. A 30-day warm-up and the end of reliable eruption coverage (20 July 1986) leave 2,960; 10.3% occur during an eruptive episode.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49808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WHAT THE MODEL SEES</a:t>
            </a:r>
            <a:endParaRPr lang="en-US" sz="1100" dirty="0"/>
          </a:p>
        </p:txBody>
      </p:sp>
      <p:sp>
        <p:nvSpPr>
          <p:cNvPr id="6" name="Feature card 1"/>
          <p:cNvSpPr/>
          <p:nvPr/>
        </p:nvSpPr>
        <p:spPr>
          <a:xfrm>
            <a:off x="7498080" y="1783080"/>
            <a:ext cx="414223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26680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Where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2194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Longitude, latitude</a:t>
            </a:r>
            <a:endParaRPr lang="en-US" sz="1400" dirty="0"/>
          </a:p>
        </p:txBody>
      </p:sp>
      <p:sp>
        <p:nvSpPr>
          <p:cNvPr id="9" name="Feature card 2"/>
          <p:cNvSpPr/>
          <p:nvPr/>
        </p:nvSpPr>
        <p:spPr>
          <a:xfrm>
            <a:off x="7498080" y="2807208"/>
            <a:ext cx="414223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2668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How deep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32186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Depth (km)</a:t>
            </a:r>
            <a:endParaRPr lang="en-US" sz="1400" dirty="0"/>
          </a:p>
        </p:txBody>
      </p:sp>
      <p:sp>
        <p:nvSpPr>
          <p:cNvPr id="12" name="Feature card 3"/>
          <p:cNvSpPr/>
          <p:nvPr/>
        </p:nvSpPr>
        <p:spPr>
          <a:xfrm>
            <a:off x="7498080" y="3831336"/>
            <a:ext cx="414223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26680" y="3950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How big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26680" y="424281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Magnitude</a:t>
            </a:r>
            <a:endParaRPr lang="en-US" sz="1400" dirty="0"/>
          </a:p>
        </p:txBody>
      </p:sp>
      <p:sp>
        <p:nvSpPr>
          <p:cNvPr id="15" name="Feature card 4"/>
          <p:cNvSpPr/>
          <p:nvPr/>
        </p:nvSpPr>
        <p:spPr>
          <a:xfrm>
            <a:off x="7498080" y="4855464"/>
            <a:ext cx="414223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26680" y="4974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How busy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26680" y="52669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Earthquakes in the previous 1, 7 and 30 days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0" y="5897880"/>
            <a:ext cx="4142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Counts look strictly backwards in time, so no feature uses a later earthquake.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catalog errors, handled explicitly</a:t>
            </a:r>
            <a:endParaRPr lang="en-US" sz="3000" dirty="0"/>
          </a:p>
        </p:txBody>
      </p:sp>
      <p:sp>
        <p:nvSpPr>
          <p:cNvPr id="3" name="Episode 48 card"/>
          <p:cNvSpPr/>
          <p:nvPr/>
        </p:nvSpPr>
        <p:spPr>
          <a:xfrm>
            <a:off x="548640" y="1371600"/>
            <a:ext cx="53949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EPISODE 48 DURATION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173,566,800 h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About 19,800 years. We keep the onset (20 July 1986) as the end of coverage and never use the duration.</a:t>
            </a:r>
            <a:endParaRPr lang="en-US" sz="1500" dirty="0"/>
          </a:p>
        </p:txBody>
      </p:sp>
      <p:sp>
        <p:nvSpPr>
          <p:cNvPr id="7" name="Episode order card"/>
          <p:cNvSpPr/>
          <p:nvPr/>
        </p:nvSpPr>
        <p:spPr>
          <a:xfrm>
            <a:off x="6245352" y="1371600"/>
            <a:ext cx="53949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9672" y="1600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EPISODES 35.5 AND 35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19202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 of order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7889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Listed 27 July before 26 July 1985. We sort onsets and keep each duration attached to its own onset.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LABEL CHECK AGAINST THE ORIGINAL CODE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09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40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of our 2,960 labels match the original PEEVED rule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47091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22.4% → 10.3%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54406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erupting share: original rule on all rows vs ours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4846320"/>
            <a:ext cx="3319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gap comes from 282 labels created only by the episode-48 error and 522 warm-up earthquakes from January 1983.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test on later earthquakes, not shuffled ones</a:t>
            </a:r>
            <a:endParaRPr lang="en-US" sz="3000" dirty="0"/>
          </a:p>
        </p:txBody>
      </p:sp>
      <p:pic>
        <p:nvPicPr>
          <p:cNvPr id="3" name="Timeline chart" descr="/home/claude/p2/ML_Mini_Project/output/figures/timeline_spl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0058400" cy="390903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303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TRAIN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623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2,023 earthquakes  ·  230 erupting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943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Jan 1983 – Apr 1985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306824" y="5303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DEVELOPMENT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306824" y="5623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519 earthquakes  ·  46 erupting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306824" y="5943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May 1985 – Jan 1986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5303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TEST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065008" y="5623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296 earthquakes  ·  19 erupting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065008" y="5943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Feb 1986 – Jul 1986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model families, chosen on development data</a:t>
            </a:r>
            <a:endParaRPr lang="en-US" sz="3000" dirty="0"/>
          </a:p>
        </p:txBody>
      </p:sp>
      <p:graphicFrame>
        <p:nvGraphicFramePr>
          <p:cNvPr id="7" name="Model gri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423160"/>
                <a:gridCol w="2423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</a:rPr>
                        <a:t>Family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</a:rPr>
                        <a:t>Classification settings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</a:rPr>
                        <a:t>Regression settings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Baseline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Class prior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Training mean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Logistic regression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 = 0.1, 1, 10 (balanced)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Random forest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Depth 5, 15, none · 200 trees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Depth 5, 15, none · 200 trees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K-means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Per-class centroids, k = 4, 8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Joint centroids, k = 6, 10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Neural network (MLP)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32-16 units, α = 0.001, 0.1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32-16 units, α = 0.001, 0.1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Step 1 marker"/>
          <p:cNvSpPr/>
          <p:nvPr/>
        </p:nvSpPr>
        <p:spPr>
          <a:xfrm>
            <a:off x="800100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010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778240" y="13533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7373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Train each setting on the training window only</a:t>
            </a:r>
            <a:endParaRPr lang="en-US" sz="1400" dirty="0"/>
          </a:p>
        </p:txBody>
      </p:sp>
      <p:sp>
        <p:nvSpPr>
          <p:cNvPr id="8" name="Step 2 marker"/>
          <p:cNvSpPr/>
          <p:nvPr/>
        </p:nvSpPr>
        <p:spPr>
          <a:xfrm>
            <a:off x="8001000" y="2834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8163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778240" y="3200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Pick the best family by development AUROC or RMSE</a:t>
            </a:r>
            <a:endParaRPr lang="en-US" sz="1400" dirty="0"/>
          </a:p>
        </p:txBody>
      </p:sp>
      <p:sp>
        <p:nvSpPr>
          <p:cNvPr id="12" name="Step 3 marker"/>
          <p:cNvSpPr/>
          <p:nvPr/>
        </p:nvSpPr>
        <p:spPr>
          <a:xfrm>
            <a:off x="8001000" y="42976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0100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778240" y="42793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once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0" y="46634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Freeze the choice, then score the test window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663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Scaling is fit on training data inside each pipeline. Baselines are allowed to win.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Eruption status: close to chance on later earthquakes</a:t>
            </a:r>
            <a:endParaRPr lang="en-US" sz="3000" dirty="0"/>
          </a:p>
        </p:txBody>
      </p:sp>
      <p:graphicFrame>
        <p:nvGraphicFramePr>
          <p:cNvPr id="3" name="AUROC chart" descr=""/>
          <p:cNvGraphicFramePr/>
          <p:nvPr/>
        </p:nvGraphicFramePr>
        <p:xfrm>
          <a:off x="457200" y="128016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Blue: selected on development data (K-means, k=4).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680960" y="13258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0.524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057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test AUROC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692640" y="13258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−0.012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9692640" y="2057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Cohen's kappa</a:t>
            </a:r>
            <a:endParaRPr lang="en-US" sz="1200" dirty="0"/>
          </a:p>
        </p:txBody>
      </p:sp>
      <p:sp>
        <p:nvSpPr>
          <p:cNvPr id="9" name="Confusion summary card"/>
          <p:cNvSpPr/>
          <p:nvPr/>
        </p:nvSpPr>
        <p:spPr>
          <a:xfrm>
            <a:off x="7680960" y="3063240"/>
            <a:ext cx="3959352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AT A 0.5 THRESHOLD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356616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of 19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eruptive earthquakes found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194 of 277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repose earthquakes flagged as erupting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to eruption: no model beats the test-period mean</a:t>
            </a:r>
            <a:endParaRPr lang="en-US" sz="3000" dirty="0"/>
          </a:p>
        </p:txBody>
      </p:sp>
      <p:graphicFrame>
        <p:nvGraphicFramePr>
          <p:cNvPr id="3" name="RMSE chart" descr=""/>
          <p:cNvGraphicFramePr/>
          <p:nvPr/>
        </p:nvGraphicFramePr>
        <p:xfrm>
          <a:off x="457200" y="128016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Blue: selected on development data (Mean baseline).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680960" y="1325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7.75 d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057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RMSE of the selected mean baseline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738360" y="13258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−0.179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9738360" y="2057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R² (below 0 = worse than the test mean)</a:t>
            </a:r>
            <a:endParaRPr lang="en-US" sz="1200" dirty="0"/>
          </a:p>
        </p:txBody>
      </p:sp>
      <p:sp>
        <p:nvSpPr>
          <p:cNvPr id="9" name="Regression note card"/>
          <p:cNvSpPr/>
          <p:nvPr/>
        </p:nvSpPr>
        <p:spPr>
          <a:xfrm>
            <a:off x="7680960" y="3063240"/>
            <a:ext cx="3959352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EVERY MODEL, TEST R²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35661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Mean baseline   −0.179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Random forest   −0.048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Joint K-means   −0.121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MLP   −0.345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4754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The forest's test RMSE is lower, but development data chose the baseline; switching after seeing the test would be tuning on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random split makes the same features look better</a:t>
            </a:r>
            <a:endParaRPr lang="en-US" sz="3000" dirty="0"/>
          </a:p>
        </p:txBody>
      </p:sp>
      <p:graphicFrame>
        <p:nvGraphicFramePr>
          <p:cNvPr id="3" name="Split comparison chart" descr=""/>
          <p:cNvGraphicFramePr/>
          <p:nvPr/>
        </p:nvGraphicFramePr>
        <p:xfrm>
          <a:off x="457200" y="1280160"/>
          <a:ext cx="6400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371600"/>
          <a:ext cx="441655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17320"/>
                <a:gridCol w="960120"/>
                <a:gridCol w="11247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</a:rPr>
                        <a:t>Time-ordered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</a:rPr>
                        <a:t>Random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</a:rPr>
                        <a:t>Paper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</a:rPr>
                        <a:t>AUROC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</a:rPr>
                        <a:t>0.524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</a:rPr>
                        <a:t>0.682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</a:rPr>
                        <a:t>0.71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</a:rPr>
                        <a:t>Kappa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</a:rPr>
                        <a:t>−0.012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</a:rPr>
                        <a:t>0.114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</a:rPr>
                        <a:t>0.52*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</a:rPr>
                        <a:t>R²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</a:rPr>
                        <a:t>−0.179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</a:rPr>
                        <a:t>0.160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</a:rPr>
                        <a:t>0.38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223760" y="3429000"/>
            <a:ext cx="4416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Random splits put earthquakes from the same swarm in both training and test sets, so the test is easier than predicting a later period.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7223760" y="4800600"/>
            <a:ext cx="4416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* Paper's Figures 4–5 (random forest, test). Its text quotes kappa 0.42; its RMSE is on a standardized target, so only R² is comparable. Each of our splits selects its own models.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conclude</a:t>
            </a:r>
            <a:endParaRPr lang="en-US" sz="3000" dirty="0"/>
          </a:p>
        </p:txBody>
      </p:sp>
      <p:sp>
        <p:nvSpPr>
          <p:cNvPr id="3" name="Conclusion 1"/>
          <p:cNvSpPr/>
          <p:nvPr/>
        </p:nvSpPr>
        <p:spPr>
          <a:xfrm>
            <a:off x="548640" y="14173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Seven catalog features are not enough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517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On later earthquakes, classification is near chance (AUROC 0.524) and no regressor beats the mean (R² −0.179).</a:t>
            </a:r>
            <a:endParaRPr lang="en-US" sz="1400" dirty="0"/>
          </a:p>
        </p:txBody>
      </p:sp>
      <p:sp>
        <p:nvSpPr>
          <p:cNvPr id="6" name="Conclusion 2"/>
          <p:cNvSpPr/>
          <p:nvPr/>
        </p:nvSpPr>
        <p:spPr>
          <a:xfrm>
            <a:off x="4306824" y="14173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81144" y="16916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design changes the story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81144" y="26517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The paper-style random split reports AUROC 0.682; a time-ordered split is the fair test for forecasting.</a:t>
            </a:r>
            <a:endParaRPr lang="en-US" sz="1400" dirty="0"/>
          </a:p>
        </p:txBody>
      </p:sp>
      <p:sp>
        <p:nvSpPr>
          <p:cNvPr id="9" name="Conclusion 3"/>
          <p:cNvSpPr/>
          <p:nvPr/>
        </p:nvSpPr>
        <p:spPr>
          <a:xfrm>
            <a:off x="8065008" y="14173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9328" y="16916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would help next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339328" y="26517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Ground deformation, gas emissions and focal mechanisms, and a longer catalog with more eruptions.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LIMITS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Only 19 eruptive earthquakes in the test window (AUROC bootstrap interval roughly 0.37–0.68). Scores are not calibrated hazard probabilities, and this is not a warning system.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demo and reproducibility</a:t>
            </a:r>
            <a:endParaRPr lang="en-US" sz="3000" dirty="0"/>
          </a:p>
        </p:txBody>
      </p:sp>
      <p:sp>
        <p:nvSpPr>
          <p:cNvPr id="3" name="Command card"/>
          <p:cNvSpPr/>
          <p:nvPr/>
        </p:nvSpPr>
        <p:spPr>
          <a:xfrm>
            <a:off x="548640" y="1371600"/>
            <a:ext cx="6675120" cy="4206240"/>
          </a:xfrm>
          <a:prstGeom prst="roundRect">
            <a:avLst>
              <a:gd name="adj" fmla="val 26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RUN IN THE PROJECT FOLDER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6217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unittest discover -s tests -v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 pipeline checks, ~1 s</a:t>
            </a:r>
            <a:endParaRPr lang="en-US" sz="125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demo.py --row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score one held-out earthquake</a:t>
            </a:r>
            <a:endParaRPr lang="en-US" sz="125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src.experiment --protocol chronological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--output-dir tmp/live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full retrain (~15 s) without touching saved results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37160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notebooks/walkthrough.ipynb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73736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step with saved outputs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2450592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graphs.html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816352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Results page with all charts and tables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3529584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output/pdf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3895344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Two-page write-up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4608576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requirements.txt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4974336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Pinned versions (scikit-learn 1.7.2)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Mullet, B., Singh, A., &amp; Wong, Y.-Q. (2019). Predicting Eruptive Events at Volcanoes from Earthquake Data. Stanford CS229 project report.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PEEVED code and bundled catalogs: github.com/bmullet/PEEVED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Earthquake catalog: Advanced National Seismic System (ANSS), hosted by WOVOdat. Eruption history: Hawaii Center for Volcanology (as bundled in PEEVED).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Pedregosa, F. et al. (2011). Scikit-learn: Machine Learning in Python. JMLR 12, 2825–2830.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Fonts: Montserrat and Open Sans, SIL Open Font License.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Prithvish Adhikari (PES1UG24AM206)  ·  Piyush Shiv (PES1UG24AM191)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lauea Modern Clean">
  <a:themeElements>
    <a:clrScheme name="Kilauea Modern Clean">
      <a:dk1>
        <a:srgbClr val="0F172A"/>
      </a:dk1>
      <a:lt1>
        <a:srgbClr val="FFFFFF"/>
      </a:lt1>
      <a:dk2>
        <a:srgbClr val="334155"/>
      </a:dk2>
      <a:lt2>
        <a:srgbClr val="F1F5F9"/>
      </a:lt2>
      <a:accent1>
        <a:srgbClr val="1D4ED8"/>
      </a:accent1>
      <a:accent2>
        <a:srgbClr val="EA580C"/>
      </a:accent2>
      <a:accent3>
        <a:srgbClr val="94A3B8"/>
      </a:accent3>
      <a:accent4>
        <a:srgbClr val="1BAF7A"/>
      </a:accent4>
      <a:accent5>
        <a:srgbClr val="EDA100"/>
      </a:accent5>
      <a:accent6>
        <a:srgbClr val="64748B"/>
      </a:accent6>
      <a:hlink>
        <a:srgbClr val="1D4ED8"/>
      </a:hlink>
      <a:folHlink>
        <a:srgbClr val="6D28D9"/>
      </a:folHlink>
    </a:clrScheme>
    <a:fontScheme name="Kilauea Modern Clean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Earthquake signals and Kilauea eruptions</dc:title>
  <dc:subject>UE24CS352A Machine Learning mini-project review</dc:subject>
  <dc:creator>Prithvish Adhikari, Piyush Shiv</dc:creator>
  <cp:lastModifiedBy>Prithvish Adhikari, Piyush Shiv</cp:lastModifiedBy>
  <cp:revision>1</cp:revision>
  <dcterms:created xsi:type="dcterms:W3CDTF">2026-10-06T09:03:42Z</dcterms:created>
  <dcterms:modified xsi:type="dcterms:W3CDTF">2026-10-06T09:03:42Z</dcterms:modified>
</cp:coreProperties>
</file>