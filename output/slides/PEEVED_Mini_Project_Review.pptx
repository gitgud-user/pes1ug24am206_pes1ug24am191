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8A763C-EA15-468A-B7BB-D357996856EA}">
  <a:tblStyle styleId="{ED8A763C-EA15-468A-B7BB-D357996856E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problem (number 64). We adapt the Stanford CS229 PEEVED project: Kilauea earthquakes and eruptions. Our contribution is a leakage-aware, time-ordered evaluation plus a handful of extra experiments.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Magma moving through the East Rift Zone fractures rock, so seismicity should change around eruptions. Each earthquake has time, location, depth and magnitude. The paper asks two questions; we keep its data and features but change how we evaluate.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right. The single rule: nothing that touches the test labels may influence any choice. Scaling, hyperparameters, features and thresholds are all fixed using training and development data only.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Funnel from raw catalog to modeled rows. The East Rift filter reproduces the paper count of 3,764. The seven original features come from the paper; the four extra features are our experiment, and all use only information before the event.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Labels follow the original PEEVED rule plus a 24 hour uncertainty buffer. Episode 48 has an impossible duration; the original code used it, which labels every later quake as erupting. We keep its onset only as the end of coverage.</a:t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Likely viva question. For a quake at time t, every feature uses only events before t. Quakes at exactly t are excluded too. Training labels must be known before the next window starts, and there are 30-day gaps between windows. The 17-test suite checks these boundaries.</a:t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Chronological 70/20/10 with 30-day gaps. Train is Jan 1983 to Apr 1985, development May 1985 to Jan 1986, test Feb to Jul 1986. The random split from the paper is kept only as a comparison.</a:t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Classification candidates: prior baseline, logistic regression, random forest, Extra Trees, gradient boosting, class-conditional K-means, and a small MLP. Regression: mean baseline, random forest, joint K-means and MLP. Fit on train, pick on development, then freeze. Classification reports two selection procedures: development AUROC (retained baseline, picks gradient boosting) and development F1 with feature set and threshold (reported, picks logistic regression on 11 features).</a:t>
            </a:r>
            <a:endParaRPr/>
          </a:p>
        </p:txBody>
      </p:sp>
      <p:sp>
        <p:nvSpPr>
          <p:cNvPr id="226" name="Google Shape;2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Accuracy is useless here: predicting repose for every quake is 93.6 percent accurate on test. So we use ranking metrics and chance-corrected agreement. Be ready to explain AUROC, kappa, precision and recall in the viva.</a:t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ROC curves for all seven classifiers; everything sits between 0.48 and 0.53 AUROC. IMPORTANT: two selection objectives give different winners. Development F1 (with feature set and threshold) picks logistic regression on 11 features; development AUROC alone picks gradient boosting. They optimise different things, and neither is an improvement. With 19 test positives the differences are noise.</a:t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negative result. A search over k in 2 to 8, raw vs scaled inputs and two distance scores raised development AUROC to 0.668, but the frozen test AUROC was 0.515, no better than the original k=4 (0.524). Thresholds change decisions, not ranking, so K-means AUROC is 0.524 in every threshold row. All thresholds, including the recall-first ones, were chosen on development data only.</a:t>
            </a:r>
            <a:endParaRPr/>
          </a:p>
        </p:txBody>
      </p:sp>
      <p:sp>
        <p:nvSpPr>
          <p:cNvPr id="288" name="Google Shape;2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Development selected the mean baseline. The forest has lower test RMSE, but it was worse on development, so switching after seeing test would be tuning on test. All R squared values are negative on test.</a:t>
            </a:r>
            <a:endParaRPr/>
          </a:p>
        </p:txBody>
      </p:sp>
      <p:sp>
        <p:nvSpPr>
          <p:cNvPr id="310" name="Google Shape;3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paper used a random split and reported strong random-forest numbers. Under the same features, a random split gives AUROC 0.685 and kappa 0.185, while time-ordered gives 0.484 and -0.006. We do not claim to reproduce the paper numbers; its RMSE is on a standardized target so only R squared is comparable.</a:t>
            </a:r>
            <a:endParaRPr/>
          </a:p>
        </p:txBody>
      </p:sp>
      <p:sp>
        <p:nvSpPr>
          <p:cNvPr id="327" name="Google Shape;32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finding: catalog features alone do not forecast eruptions on later earthquakes. Methodological lesson: evaluation design matters. Be honest about limits: 19 test positives, 49 eruptions, one volcano.</a:t>
            </a:r>
            <a:endParaRPr/>
          </a:p>
        </p:txBody>
      </p:sp>
      <p:sp>
        <p:nvSpPr>
          <p:cNvPr id="344" name="Google Shape;3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the live demo: run the tests, then demo.py on a held-out row. Use --output-dir for a live retrain so committed results are not overwritten. Everything pins scikit-learn 1.7.2.</a:t>
            </a:r>
            <a:endParaRPr/>
          </a:p>
        </p:txBody>
      </p:sp>
      <p:sp>
        <p:nvSpPr>
          <p:cNvPr id="366" name="Google Shape;3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14161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14161B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  <a:defRPr b="1" i="0" sz="30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6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UE24CS352A  ·  Machine Learning  ·  PEEVED mini-project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/>
        </p:nvSpPr>
        <p:spPr>
          <a:xfrm>
            <a:off x="731520" y="73152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UE24CS352A MACHINE LEARNING  ·  MINI-PROJECT REVIEW  ·  PROBLEM 64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731520" y="1234440"/>
            <a:ext cx="9326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Earthquake signals and Kilauea eruptions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731520" y="333756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Predicting eruptive events at Pu'u O'o volcano from earthquake data, with a time-ordered evaluation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ismogram trace"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160520"/>
            <a:ext cx="12191695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/>
        </p:nvSpPr>
        <p:spPr>
          <a:xfrm>
            <a:off x="731520" y="56235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Prithvish Adhikari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ourier New"/>
                <a:ea typeface="Courier New"/>
                <a:cs typeface="Courier New"/>
                <a:sym typeface="Courier New"/>
              </a:rPr>
              <a:t>PES1UG24AM206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4206240" y="56235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Piyush Shiv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ourier New"/>
                <a:ea typeface="Courier New"/>
                <a:cs typeface="Courier New"/>
                <a:sym typeface="Courier New"/>
              </a:rPr>
              <a:t>PES1UG24AM191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7498080" y="59436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Based on Mullet, Singh and Wong, Stanford CS229 (2019), PEEVED  ·  October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Can earthquakes tell us when Pu'u O'o erupts?</a:t>
            </a:r>
            <a:endParaRPr sz="3000"/>
          </a:p>
        </p:txBody>
      </p:sp>
      <p:sp>
        <p:nvSpPr>
          <p:cNvPr id="35" name="Google Shape;35;p6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01  ·  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p of modeled East Rift Zone earthquakes coloured by depth" id="36" name="Google Shape;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5394960" cy="30089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/>
          <p:nvPr/>
        </p:nvSpPr>
        <p:spPr>
          <a:xfrm>
            <a:off x="548640" y="468172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2,960 modeled East Rift Zone earthquakes, 1983-1986, coloured by depth. Catalog: ANSS via WOVOdat.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548640" y="516636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WHY EARTHQUAKES?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548640" y="5440680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Rising magma stresses and cracks the crust, so more or shallower quakes may signal activity.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6400800" y="155448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TASK 1  · 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6400800" y="18105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Is the volcano erupting right now?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6400800" y="2212848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Input: one earthquake and its recent context. Output: erupting (1) or repose (0). Only about 1 in 10 earthquakes is labelled erupting.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6400800" y="320040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TASK 2  · 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 txBox="1"/>
          <p:nvPr/>
        </p:nvSpPr>
        <p:spPr>
          <a:xfrm>
            <a:off x="6400800" y="345643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How many days until the next eruption?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6400800" y="3858768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Output: a number of days to the next episode onset (0 if already erupting). Much harder: it needs a precise clock, not just a state.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6400800" y="4846320"/>
            <a:ext cx="5212080" cy="0"/>
          </a:xfrm>
          <a:prstGeom prst="straightConnector1">
            <a:avLst/>
          </a:prstGeom>
          <a:noFill/>
          <a:ln cap="flat" cmpd="sng" w="9525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400800" y="498348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WHAT THE PAPER DID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6400800" y="5230368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Shuffled all earthquakes at random into train/dev/test, then reported random forest as best. Neighbouring quakes from one swarm land on both sides of the split.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6400800" y="594360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WHAT WE ADD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6400800" y="6181344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A time-ordered holdout, leakage tests, threshold analysis, 4 extra features.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Our pipeline: seven steps, one rule</a:t>
            </a:r>
            <a:endParaRPr sz="3000"/>
          </a:p>
        </p:txBody>
      </p:sp>
      <p:sp>
        <p:nvSpPr>
          <p:cNvPr id="58" name="Google Shape;58;p7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02  · 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7"/>
          <p:cNvCxnSpPr/>
          <p:nvPr/>
        </p:nvCxnSpPr>
        <p:spPr>
          <a:xfrm>
            <a:off x="731520" y="1783080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7"/>
          <p:cNvSpPr/>
          <p:nvPr/>
        </p:nvSpPr>
        <p:spPr>
          <a:xfrm>
            <a:off x="10076688" y="1444752"/>
            <a:ext cx="1636776" cy="2377440"/>
          </a:xfrm>
          <a:prstGeom prst="rect">
            <a:avLst/>
          </a:prstGeom>
          <a:solidFill>
            <a:srgbClr val="FF7A3D"/>
          </a:solidFill>
          <a:ln cap="flat" cmpd="sng" w="12700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14161B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 txBox="1"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548640" y="2194560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CATALOGS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548640" y="2487168"/>
            <a:ext cx="14447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6,485 ANSS earthquakes and 49 eruption entries from the PEEVED repo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2148840" y="1600200"/>
            <a:ext cx="365760" cy="365760"/>
          </a:xfrm>
          <a:prstGeom prst="ellipse">
            <a:avLst/>
          </a:prstGeom>
          <a:solidFill>
            <a:srgbClr val="14161B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 txBox="1"/>
          <p:nvPr/>
        </p:nvSpPr>
        <p:spPr>
          <a:xfrm>
            <a:off x="2148840" y="1600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2148840" y="2194560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CLEAN + FILTER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2148840" y="2487168"/>
            <a:ext cx="14447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Drop invalid rows and duplicates; keep East Rift Zone only: 3,764 quakes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3749040" y="1600200"/>
            <a:ext cx="365760" cy="365760"/>
          </a:xfrm>
          <a:prstGeom prst="ellipse">
            <a:avLst/>
          </a:prstGeom>
          <a:solidFill>
            <a:srgbClr val="14161B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 txBox="1"/>
          <p:nvPr/>
        </p:nvSpPr>
        <p:spPr>
          <a:xfrm>
            <a:off x="3749040" y="1600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749040" y="2194560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3749040" y="2487168"/>
            <a:ext cx="14447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Location, depth, magnitude and past-only counts over 1, 7, 30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5349240" y="1600200"/>
            <a:ext cx="365760" cy="365760"/>
          </a:xfrm>
          <a:prstGeom prst="ellipse">
            <a:avLst/>
          </a:prstGeom>
          <a:solidFill>
            <a:srgbClr val="14161B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5349240" y="1600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5349240" y="2194560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LABELS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5349240" y="2487168"/>
            <a:ext cx="14447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Erupting = inside an episode plus 24 h buffer; days to next onset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6949440" y="1600200"/>
            <a:ext cx="365760" cy="365760"/>
          </a:xfrm>
          <a:prstGeom prst="ellipse">
            <a:avLst/>
          </a:prstGeom>
          <a:solidFill>
            <a:srgbClr val="14161B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6949440" y="1600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6949440" y="2194560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TIME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6949440" y="2487168"/>
            <a:ext cx="14447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70/20/10 by time with 30-day gaps and label-availability checks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8549640" y="1600200"/>
            <a:ext cx="365760" cy="365760"/>
          </a:xfrm>
          <a:prstGeom prst="ellipse">
            <a:avLst/>
          </a:prstGeom>
          <a:solidFill>
            <a:srgbClr val="14161B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 txBox="1"/>
          <p:nvPr/>
        </p:nvSpPr>
        <p:spPr>
          <a:xfrm>
            <a:off x="8549640" y="1600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8549640" y="2194560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TRAIN + SELECT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8549640" y="2487168"/>
            <a:ext cx="14447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Fit on train; choose model, features and threshold on development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0149840" y="1600200"/>
            <a:ext cx="365760" cy="365760"/>
          </a:xfrm>
          <a:prstGeom prst="ellipse">
            <a:avLst/>
          </a:prstGeom>
          <a:solidFill>
            <a:srgbClr val="14161B"/>
          </a:solidFill>
          <a:ln cap="flat" cmpd="sng" w="15875">
            <a:solidFill>
              <a:srgbClr val="1416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10149840" y="1600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10149840" y="2194560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1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61B"/>
                </a:solidFill>
                <a:latin typeface="Calibri"/>
                <a:ea typeface="Calibri"/>
                <a:cs typeface="Calibri"/>
                <a:sym typeface="Calibri"/>
              </a:rPr>
              <a:t>TEST ONCE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0149840" y="2487168"/>
            <a:ext cx="14447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1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61B"/>
                </a:solidFill>
                <a:latin typeface="Calibri"/>
                <a:ea typeface="Calibri"/>
                <a:cs typeface="Calibri"/>
                <a:sym typeface="Calibri"/>
              </a:rPr>
              <a:t>Freeze every choice, then score the later test window once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548640" y="411480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DESIGN PRINCIPLE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548640" y="437083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Think like a forecaster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548640" y="4846320"/>
            <a:ext cx="5394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A forecaster only knows the past, so every feature looks strictly backwards.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Models are chosen on development data; the test window is scored exactly once.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Baselines are allowed to win. If nothing beats "predict the average", we say so.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6400800" y="411480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6400800" y="437083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Code you can run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400800" y="4846320"/>
            <a:ext cx="5239512" cy="1417320"/>
          </a:xfrm>
          <a:prstGeom prst="rect">
            <a:avLst/>
          </a:prstGeom>
          <a:solidFill>
            <a:srgbClr val="1E2128"/>
          </a:solidFill>
          <a:ln cap="flat" cmpd="sng" w="12700">
            <a:solidFill>
              <a:srgbClr val="1E2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6583680" y="498348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7A3D"/>
                </a:solidFill>
                <a:latin typeface="Courier New"/>
                <a:ea typeface="Courier New"/>
                <a:cs typeface="Courier New"/>
                <a:sym typeface="Courier New"/>
              </a:rPr>
              <a:t>src/data.py</a:t>
            </a: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: cleaning, past-only features, labels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7A3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7A3D"/>
                </a:solidFill>
                <a:latin typeface="Courier New"/>
                <a:ea typeface="Courier New"/>
                <a:cs typeface="Courier New"/>
                <a:sym typeface="Courier New"/>
              </a:rPr>
              <a:t>src/models.py</a:t>
            </a: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: K-means classifier and regressor wrappers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7A3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7A3D"/>
                </a:solidFill>
                <a:latin typeface="Courier New"/>
                <a:ea typeface="Courier New"/>
                <a:cs typeface="Courier New"/>
                <a:sym typeface="Courier New"/>
              </a:rPr>
              <a:t>src/experiment.py</a:t>
            </a: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: splits, selection, thresholds, metrics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7A3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7A3D"/>
                </a:solidFill>
                <a:latin typeface="Courier New"/>
                <a:ea typeface="Courier New"/>
                <a:cs typeface="Courier New"/>
                <a:sym typeface="Courier New"/>
              </a:rPr>
              <a:t>demo.py</a:t>
            </a: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 + 17 unit tests (all pass) + saved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2,960 earthquakes, up to eleven features each</a:t>
            </a:r>
            <a:endParaRPr sz="3000"/>
          </a:p>
        </p:txBody>
      </p:sp>
      <p:sp>
        <p:nvSpPr>
          <p:cNvPr id="103" name="Google Shape;103;p8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03  · 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539496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 txBox="1"/>
          <p:nvPr/>
        </p:nvSpPr>
        <p:spPr>
          <a:xfrm>
            <a:off x="548640" y="489204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HOW THE COUNT DROPS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548640" y="5166360"/>
            <a:ext cx="5303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3,764 to 2,960: first 30 days (feature warm-up) and everything from 20 Jul 1986 on, where eruption coverage ends.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304 erupting = 10.3%: a strongly imbalanced target.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6400800" y="155448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WHAT THE MODEL SEES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6400800" y="1920240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6400800" y="22402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Longitude, latitude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9098280" y="1920240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How deep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9098280" y="22402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Depth in km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6400800" y="276148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How big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6400800" y="308152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Magnitude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9098280" y="276148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How busy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9098280" y="308152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Quakes in previous 1, 7 and 30 days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6400800" y="360273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NEW  </a:t>
            </a: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Last 6 hours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400800" y="3922776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Quake count in previous 6 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9098280" y="360273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NEW  </a:t>
            </a: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Quiet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9098280" y="3922776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Time since previous quake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6400800" y="444398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NEW  </a:t>
            </a: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Typical size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6400800" y="4764024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Mean magnitude, previous 24 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9098280" y="444398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NEW  </a:t>
            </a: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Biggest recent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9098280" y="4764024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Max magnitude, previous 24 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8"/>
          <p:cNvCxnSpPr/>
          <p:nvPr/>
        </p:nvCxnSpPr>
        <p:spPr>
          <a:xfrm>
            <a:off x="6400800" y="5349240"/>
            <a:ext cx="5212080" cy="0"/>
          </a:xfrm>
          <a:prstGeom prst="straightConnector1">
            <a:avLst/>
          </a:prstGeom>
          <a:noFill/>
          <a:ln cap="flat" cmpd="sng" w="9525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8"/>
          <p:cNvSpPr txBox="1"/>
          <p:nvPr/>
        </p:nvSpPr>
        <p:spPr>
          <a:xfrm>
            <a:off x="6400800" y="54864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Original 7 features follow the paper. The 4 NEW features test whether finer-grained recent activity helps.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How labels are built, and two catalog errors we caught</a:t>
            </a:r>
            <a:endParaRPr sz="3000"/>
          </a:p>
        </p:txBody>
      </p:sp>
      <p:sp>
        <p:nvSpPr>
          <p:cNvPr id="133" name="Google Shape;133;p9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04  ·  LABELS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6099048" y="1600200"/>
            <a:ext cx="0" cy="4526280"/>
          </a:xfrm>
          <a:prstGeom prst="straightConnector1">
            <a:avLst/>
          </a:prstGeom>
          <a:noFill/>
          <a:ln cap="flat" cmpd="sng" w="9525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9"/>
          <p:cNvSpPr txBox="1"/>
          <p:nvPr/>
        </p:nvSpPr>
        <p:spPr>
          <a:xfrm>
            <a:off x="548640" y="155448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CLASSIFICATION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Erupting =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548640" y="228600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An earthquake is erupting if it falls inside an episode's catalog duration plus a 24-hour buffer. Everything else is repose (0).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548640" y="310896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REGRESSION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548640" y="33832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Days to next eruption onset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548640" y="384048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Measured to the next recorded onset; 0 if already erupting. Quakes with no known next onset are dropped, never set to zero.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548640" y="466344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548640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10.3% erupting overall, 6.4% in test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548640" y="539496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Test holds 296 quakes, 19 erupting. Always guessing "repose" is 93.6% accurate, so accuracy alone is misleading.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6400800" y="155448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ERROR 1  ·  EPISODE 48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173,566,800 hours (about 19,800 years)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6400800" y="228600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We keep its onset (20 Jul 1986) as the end of coverage and never use the duration. The original code used it as-is.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6400800" y="310896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ERROR 2  ·  EPISODES 35.5 AND 35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6400800" y="33832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Listed out of date order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6400800" y="384048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We sort onsets and keep each duration attached to its own onset.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6400800" y="466344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LABEL CHECK AGAINST ORIGINAL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6400800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100% match on the 2,960 modeled rows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6400800" y="539496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On all 3,764 quakes the original rule gives 22.4% erupting; ours is 10.3% after removing 282 episode-48-only labels and 522 warm-up quakes.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Preventing data leakage: features look only backwards</a:t>
            </a:r>
            <a:endParaRPr sz="3000"/>
          </a:p>
        </p:txBody>
      </p:sp>
      <p:sp>
        <p:nvSpPr>
          <p:cNvPr id="160" name="Google Shape;160;p1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05  ·  LEAKAGE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548640" y="155448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EXAMPLE  ·  7-DAY COUNT FOR ONE EARTHQUAKE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48640" y="1874520"/>
            <a:ext cx="6492240" cy="2880360"/>
          </a:xfrm>
          <a:prstGeom prst="rect">
            <a:avLst/>
          </a:prstGeom>
          <a:solidFill>
            <a:srgbClr val="1E2128"/>
          </a:solidFill>
          <a:ln cap="flat" cmpd="sng" w="12700">
            <a:solidFill>
              <a:srgbClr val="1E2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2194560" y="2926080"/>
            <a:ext cx="2743200" cy="502920"/>
          </a:xfrm>
          <a:prstGeom prst="rect">
            <a:avLst/>
          </a:prstGeom>
          <a:solidFill>
            <a:srgbClr val="6FC2B0">
              <a:alpha val="21961"/>
            </a:srgbClr>
          </a:solidFill>
          <a:ln cap="flat" cmpd="sng" w="12700">
            <a:solidFill>
              <a:srgbClr val="6FC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10"/>
          <p:cNvCxnSpPr/>
          <p:nvPr/>
        </p:nvCxnSpPr>
        <p:spPr>
          <a:xfrm>
            <a:off x="777240" y="3429000"/>
            <a:ext cx="6035040" cy="0"/>
          </a:xfrm>
          <a:prstGeom prst="straightConnector1">
            <a:avLst/>
          </a:prstGeom>
          <a:noFill/>
          <a:ln cap="flat" cmpd="sng" w="9525">
            <a:solidFill>
              <a:srgbClr val="A3A8B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0"/>
          <p:cNvSpPr txBox="1"/>
          <p:nvPr/>
        </p:nvSpPr>
        <p:spPr>
          <a:xfrm>
            <a:off x="2194560" y="25420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C2B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C2B0"/>
                </a:solidFill>
                <a:latin typeface="Calibri"/>
                <a:ea typeface="Calibri"/>
                <a:cs typeface="Calibri"/>
                <a:sym typeface="Calibri"/>
              </a:rPr>
              <a:t>counted: [t - 7 days, 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978408" y="3355848"/>
            <a:ext cx="146304" cy="146304"/>
          </a:xfrm>
          <a:prstGeom prst="ellipse">
            <a:avLst/>
          </a:prstGeom>
          <a:solidFill>
            <a:srgbClr val="7F8696"/>
          </a:solidFill>
          <a:ln cap="flat" cmpd="sng" w="15875">
            <a:solidFill>
              <a:srgbClr val="7F8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435608" y="3355848"/>
            <a:ext cx="146304" cy="146304"/>
          </a:xfrm>
          <a:prstGeom prst="ellipse">
            <a:avLst/>
          </a:prstGeom>
          <a:solidFill>
            <a:srgbClr val="7F8696"/>
          </a:solidFill>
          <a:ln cap="flat" cmpd="sng" w="15875">
            <a:solidFill>
              <a:srgbClr val="7F8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801368" y="3355848"/>
            <a:ext cx="146304" cy="146304"/>
          </a:xfrm>
          <a:prstGeom prst="ellipse">
            <a:avLst/>
          </a:prstGeom>
          <a:solidFill>
            <a:srgbClr val="7F8696"/>
          </a:solidFill>
          <a:ln cap="flat" cmpd="sng" w="15875">
            <a:solidFill>
              <a:srgbClr val="7F8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2395728" y="3355848"/>
            <a:ext cx="146304" cy="146304"/>
          </a:xfrm>
          <a:prstGeom prst="ellipse">
            <a:avLst/>
          </a:prstGeom>
          <a:solidFill>
            <a:srgbClr val="6FC2B0"/>
          </a:solidFill>
          <a:ln cap="flat" cmpd="sng" w="15875">
            <a:solidFill>
              <a:srgbClr val="6FC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2807208" y="3355848"/>
            <a:ext cx="146304" cy="146304"/>
          </a:xfrm>
          <a:prstGeom prst="ellipse">
            <a:avLst/>
          </a:prstGeom>
          <a:solidFill>
            <a:srgbClr val="6FC2B0"/>
          </a:solidFill>
          <a:ln cap="flat" cmpd="sng" w="15875">
            <a:solidFill>
              <a:srgbClr val="6FC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3218688" y="3355848"/>
            <a:ext cx="146304" cy="146304"/>
          </a:xfrm>
          <a:prstGeom prst="ellipse">
            <a:avLst/>
          </a:prstGeom>
          <a:solidFill>
            <a:srgbClr val="6FC2B0"/>
          </a:solidFill>
          <a:ln cap="flat" cmpd="sng" w="15875">
            <a:solidFill>
              <a:srgbClr val="6FC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3813048" y="3355848"/>
            <a:ext cx="146304" cy="146304"/>
          </a:xfrm>
          <a:prstGeom prst="ellipse">
            <a:avLst/>
          </a:prstGeom>
          <a:solidFill>
            <a:srgbClr val="6FC2B0"/>
          </a:solidFill>
          <a:ln cap="flat" cmpd="sng" w="15875">
            <a:solidFill>
              <a:srgbClr val="6FC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4315968" y="3355848"/>
            <a:ext cx="146304" cy="146304"/>
          </a:xfrm>
          <a:prstGeom prst="ellipse">
            <a:avLst/>
          </a:prstGeom>
          <a:solidFill>
            <a:srgbClr val="6FC2B0"/>
          </a:solidFill>
          <a:ln cap="flat" cmpd="sng" w="15875">
            <a:solidFill>
              <a:srgbClr val="6FC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4636008" y="3355848"/>
            <a:ext cx="146304" cy="146304"/>
          </a:xfrm>
          <a:prstGeom prst="ellipse">
            <a:avLst/>
          </a:prstGeom>
          <a:solidFill>
            <a:srgbClr val="6FC2B0"/>
          </a:solidFill>
          <a:ln cap="flat" cmpd="sng" w="15875">
            <a:solidFill>
              <a:srgbClr val="6FC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5074920" y="3291840"/>
            <a:ext cx="274320" cy="274320"/>
          </a:xfrm>
          <a:prstGeom prst="ellipse">
            <a:avLst/>
          </a:prstGeom>
          <a:solidFill>
            <a:srgbClr val="FF7A3D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641848" y="3355848"/>
            <a:ext cx="146304" cy="146304"/>
          </a:xfrm>
          <a:prstGeom prst="ellipse">
            <a:avLst/>
          </a:prstGeom>
          <a:noFill/>
          <a:ln cap="flat" cmpd="sng" w="15875">
            <a:solidFill>
              <a:srgbClr val="7F8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6053328" y="3355848"/>
            <a:ext cx="146304" cy="146304"/>
          </a:xfrm>
          <a:prstGeom prst="ellipse">
            <a:avLst/>
          </a:prstGeom>
          <a:noFill/>
          <a:ln cap="flat" cmpd="sng" w="15875">
            <a:solidFill>
              <a:srgbClr val="7F8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419088" y="3355848"/>
            <a:ext cx="146304" cy="146304"/>
          </a:xfrm>
          <a:prstGeom prst="ellipse">
            <a:avLst/>
          </a:prstGeom>
          <a:noFill/>
          <a:ln cap="flat" cmpd="sng" w="15875">
            <a:solidFill>
              <a:srgbClr val="7F8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4297680" y="36576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quake to score (time 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5440680" y="292608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never used: the future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822960" y="41148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Past and future quakes sit on the same time axis. Only the teal window feeds the 7-day count; the quake at t itself is excluded.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548640" y="502920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What have we learnt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548640" y="5321808"/>
            <a:ext cx="6492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"All temporal features use only information available before the prediction timestamp, so future earthquake activity never predicts the current state."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7589520" y="15544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Strictly-before windows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7589520" y="190195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Counts use [t - window, t); events at the same timestamp are excluded.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7589520" y="27432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Label availability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7589520" y="309067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A training label must be observable before the next window starts.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7589520" y="39319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30-day gaps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7589520" y="427939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Gaps separate train, development and test so windows do not touch.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7589520" y="51206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Unit tests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7589520" y="54681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17 unit tests pass, covering window boundaries, ties, labels, the buffer rule and the splits.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We test on later earthquakes, not shuffled ones</a:t>
            </a:r>
            <a:endParaRPr sz="3000"/>
          </a:p>
        </p:txBody>
      </p:sp>
      <p:sp>
        <p:nvSpPr>
          <p:cNvPr id="199" name="Google Shape;199;p1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06  ·  EVALUATION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eekly earthquake counts with train, development and test windows"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7863840" cy="305629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 txBox="1"/>
          <p:nvPr/>
        </p:nvSpPr>
        <p:spPr>
          <a:xfrm>
            <a:off x="548640" y="48463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548640" y="510235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2,023 quakes  ·  230 erupting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548640" y="56235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Jan 1983 - Apr 1985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548640" y="5897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Fit every candidate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3246120" y="48463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3246120" y="510235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519 quakes  ·  46 erupting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3246120" y="56235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May 1985 - Jan 1986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3246120" y="5897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Choose model, features, 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5943600" y="48463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5943600" y="510235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296 quakes  ·  19 erupting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5943600" y="56235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Feb 1986 - Jul 1986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5943600" y="5897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Scored once at the very 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8869680" y="15544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GAPS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8869680" y="181051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30 days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8869680" y="23317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Between windows, so near-identical quakes cannot sit on both sides.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8869680" y="33375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LABEL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8869680" y="359359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Known in 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8869680" y="402336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Training labels must be observable before the next window opens.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732520" y="4846320"/>
            <a:ext cx="3017520" cy="1463040"/>
          </a:xfrm>
          <a:prstGeom prst="rect">
            <a:avLst/>
          </a:prstGeom>
          <a:solidFill>
            <a:srgbClr val="272B34"/>
          </a:solidFill>
          <a:ln cap="flat" cmpd="sng" w="12700">
            <a:solidFill>
              <a:srgbClr val="272B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8869680" y="49560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8869680" y="5230368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Swarms are bursty. A random split lets a swarm leak across train and test.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Seven model families, chosen on development data</a:t>
            </a:r>
            <a:endParaRPr sz="3000"/>
          </a:p>
        </p:txBody>
      </p:sp>
      <p:sp>
        <p:nvSpPr>
          <p:cNvPr id="229" name="Google Shape;229;p12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07  · 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12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{ED8A763C-EA15-468A-B7BB-D357996856EA}</a:tableStyleId>
              </a:tblPr>
              <a:tblGrid>
                <a:gridCol w="2468875"/>
                <a:gridCol w="4206250"/>
                <a:gridCol w="4416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FAMILY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IDEA IN ONE LINE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HOW WE USED IT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1EEE8"/>
                          </a:solidFill>
                        </a:rPr>
                        <a:t>Prior / mean baseline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3A8B3"/>
                          </a:solidFill>
                        </a:rPr>
                        <a:t>Always predicts the base rate or training average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1EEE8"/>
                          </a:solidFill>
                        </a:rPr>
                        <a:t>The floor every model must beat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1EEE8"/>
                          </a:solidFill>
                        </a:rPr>
                        <a:t>Logistic regression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3A8B3"/>
                          </a:solidFill>
                        </a:rPr>
                        <a:t>Weighted sum of features turned into a probability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1EEE8"/>
                          </a:solidFill>
                        </a:rPr>
                        <a:t>C = 0.1, 1, 10; balanced class weights; scaled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1EEE8"/>
                          </a:solidFill>
                        </a:rPr>
                        <a:t>Random forest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3A8B3"/>
                          </a:solidFill>
                        </a:rPr>
                        <a:t>Many decision trees vote on random data subsets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1EEE8"/>
                          </a:solidFill>
                        </a:rPr>
                        <a:t>200 trees; depth 5, 15 or none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1EEE8"/>
                          </a:solidFill>
                        </a:rPr>
                        <a:t>Extra Trees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3A8B3"/>
                          </a:solidFill>
                        </a:rPr>
                        <a:t>Like a forest but with extra-random split points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1EEE8"/>
                          </a:solidFill>
                        </a:rPr>
                        <a:t>Small development grid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1EEE8"/>
                          </a:solidFill>
                        </a:rPr>
                        <a:t>Gradient boosting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3A8B3"/>
                          </a:solidFill>
                        </a:rPr>
                        <a:t>Small trees added one by one, each fixing the last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1EEE8"/>
                          </a:solidFill>
                        </a:rPr>
                        <a:t>Small development grid; n=100, depth=2 was AUROC pick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1EEE8"/>
                          </a:solidFill>
                        </a:rPr>
                        <a:t>Class-conditional K-means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3A8B3"/>
                          </a:solidFill>
                        </a:rPr>
                        <a:t>Cluster each class; score by closeness to its centroids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1EEE8"/>
                          </a:solidFill>
                        </a:rPr>
                        <a:t>k = 2 to 8; raw or scaled inputs; 2 distance scores (regression: joint centroids)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1EEE8"/>
                          </a:solidFill>
                        </a:rPr>
                        <a:t>Neural network (MLP)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A3A8B3"/>
                          </a:solidFill>
                        </a:rPr>
                        <a:t>Two hidden layers (32 and 16 units)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1EEE8"/>
                          </a:solidFill>
                        </a:rPr>
                        <a:t>alpha = 0.001, 0.1; scaled; 400 iterations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12"/>
          <p:cNvSpPr txBox="1"/>
          <p:nvPr/>
        </p:nvSpPr>
        <p:spPr>
          <a:xfrm>
            <a:off x="548640" y="49377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1051560" y="49834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FIT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1051560" y="5257800"/>
            <a:ext cx="3063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Train each setting on the training window only. Scaling is fit on training data inside each pipeline.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297680" y="49377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4800600" y="49834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4800600" y="5257800"/>
            <a:ext cx="3063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Development data only. Classification has two procedures: AUROC alone, or development F1 with feature set (7 vs 11) and threshold. Regression: development RMSE.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8046720" y="49377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8549640" y="49834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TEST ONCE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8549640" y="5257800"/>
            <a:ext cx="3063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Freeze the choice, then score the test window once. No peeking, no re-tuning.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How we judge a model, in plain English</a:t>
            </a:r>
            <a:endParaRPr sz="3000"/>
          </a:p>
        </p:txBody>
      </p:sp>
      <p:sp>
        <p:nvSpPr>
          <p:cNvPr id="247" name="Google Shape;247;p13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08  · 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548640" y="155448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AUROC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548640" y="2011680"/>
            <a:ext cx="3474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Pick one erupting and one repose quake at random. AUROC is the chance the model scores the erupting one higher. 0.5 = coin flip.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4343400" y="155448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Average precision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4343400" y="2011680"/>
            <a:ext cx="3474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How clean the top of the ranking is. Compare to the base rate: 6.4% in test.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8138160" y="155448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Cohen's kappa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8138160" y="2011680"/>
            <a:ext cx="3474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Agreement with the truth beyond chance. 0 = no better than chance; 1 = perfect.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548640" y="32461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Precision and recall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548640" y="3703320"/>
            <a:ext cx="3474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Precision: of the quakes flagged erupting, how many truly were. Recall: of the truly erupting, how many we caught.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4343400" y="32461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Threshold and FPR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4343400" y="3703320"/>
            <a:ext cx="3474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A score becomes a yes/no at a threshold. FPR is the share of repose quakes wrongly flagged (false alarms).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8138160" y="32461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RMSE, MAE, R squared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8138160" y="3703320"/>
            <a:ext cx="3474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Average error in days. R squared below 0 means worse than just predicting the mean.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3"/>
          <p:cNvCxnSpPr/>
          <p:nvPr/>
        </p:nvCxnSpPr>
        <p:spPr>
          <a:xfrm>
            <a:off x="548640" y="489204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3"/>
          <p:cNvSpPr txBox="1"/>
          <p:nvPr/>
        </p:nvSpPr>
        <p:spPr>
          <a:xfrm>
            <a:off x="548640" y="50749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WHY NOT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548640" y="53492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277 / 296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3200400" y="534924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0 / 19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548640" y="59893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correct (93.6%)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3200400" y="5989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eruptions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5760720" y="539496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On the test window, "always repose" scores 277 of 296 correct (93.6%) yet finds 0 of 19 eruptions. That is why every result reports AUROC and kappa.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Eruption status: every model is close to chance</a:t>
            </a:r>
            <a:endParaRPr sz="3000"/>
          </a:p>
        </p:txBody>
      </p:sp>
      <p:sp>
        <p:nvSpPr>
          <p:cNvPr id="274" name="Google Shape;274;p14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09  ·  RESULTS  · 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C curves for all classifiers on the chronological test period, close to the diagonal" id="275" name="Google Shape;2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4937760" cy="32743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" name="Google Shape;276;p14"/>
          <p:cNvGraphicFramePr/>
          <p:nvPr/>
        </p:nvGraphicFramePr>
        <p:xfrm>
          <a:off x="594360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{ED8A763C-EA15-468A-B7BB-D357996856EA}</a:tableStyleId>
              </a:tblPr>
              <a:tblGrid>
                <a:gridCol w="4206250"/>
                <a:gridCol w="14904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MODEL (TEST PERIOD)</a:t>
                      </a:r>
                      <a:endParaRPr sz="11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TEST AUROC</a:t>
                      </a:r>
                      <a:endParaRPr sz="11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Prior baseline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0.500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1EEE8"/>
                          </a:solidFill>
                        </a:rPr>
                        <a:t>Logistic regression (dev-F1 pick)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A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7A3D"/>
                          </a:solidFill>
                        </a:rPr>
                        <a:t>0.484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Random forest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0.522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Extra Trees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0.483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1EEE8"/>
                          </a:solidFill>
                        </a:rPr>
                        <a:t>Gradient boosting (dev-AUROC pick)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A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7A3D"/>
                          </a:solidFill>
                        </a:rPr>
                        <a:t>0.532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Class-conditional K-means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0.524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Neural network (MLP)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0.514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p14"/>
          <p:cNvSpPr txBox="1"/>
          <p:nvPr/>
        </p:nvSpPr>
        <p:spPr>
          <a:xfrm>
            <a:off x="5943600" y="4297680"/>
            <a:ext cx="5696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Both selected models are highlighted: they come from different objectives.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548640" y="507492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SELECTED BY DEVELOPMENT F1 (REPORTED)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548640" y="5330952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Logistic regression, 11 features, C=10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548640" y="5687568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Threshold 0.611 set on development. Test: AUROC 0.484, kappa -0.006, found 4 of 19, 62 false alarms (precision 0.061, recall 0.211).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6309360" y="507492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SELECTED BY DEVELOPMENT AUROC (BASELINE)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6309360" y="533095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Gradient boosting, n=100, depth=2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 txBox="1"/>
          <p:nvPr/>
        </p:nvSpPr>
        <p:spPr>
          <a:xfrm>
            <a:off x="6309360" y="5687568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Development AUROC 0.603; test AUROC 0.532. A different objective, so not automatically an improvement over the F1 procedure.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Negative result: tuning K-means did not help on later data</a:t>
            </a:r>
            <a:endParaRPr sz="3000"/>
          </a:p>
        </p:txBody>
      </p:sp>
      <p:sp>
        <p:nvSpPr>
          <p:cNvPr id="291" name="Google Shape;291;p15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10  ·  RESULTS  ·  K-MEANS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5486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>
            <a:off x="6355080" y="1508760"/>
            <a:ext cx="5285232" cy="3200400"/>
          </a:xfrm>
          <a:prstGeom prst="rect">
            <a:avLst/>
          </a:prstGeom>
          <a:solidFill>
            <a:srgbClr val="1E2128"/>
          </a:solidFill>
          <a:ln cap="flat" cmpd="sng" w="12700">
            <a:solidFill>
              <a:srgbClr val="1E2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6629400" y="17373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KEY NEGATIVE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662940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Better on development, not on test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6629400" y="25603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A3A8B3"/>
                </a:solidFill>
                <a:latin typeface="Cambria"/>
                <a:ea typeface="Cambria"/>
                <a:cs typeface="Cambria"/>
                <a:sym typeface="Cambria"/>
              </a:rPr>
              <a:t>0.668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9144000" y="25603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0.515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6629400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development AUROC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(k=3, raw, relative distance)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9144000" y="3429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frozen test AUROC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(original k=4: 0.524)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6629400" y="40690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Test AP 0.068, recall 0.158, FPR 0.177. The search improved development ranking only.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548640" y="493776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THE TRADE-OFF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548640" y="521208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The fixed 0.5 rule catches 12 of 19 but raises 194 false alarms. Stricter thresholds, all set on development data, raise fewer alarms and miss more eruptions.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6355080" y="493776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RECALL-FIRST (FPR CAP, SET ON DEVELOPMENT)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6355080" y="5212080"/>
            <a:ext cx="52852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Cap 0.10: MLP, test recall 0.053, FPR 0.090. Cap 0.20: logistic, threshold 0.611, test recall 0.211, FPR 0.224. Test FPR was not constrained.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Development scores overstate later performance, which is why every choice is frozen before test.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Time to eruption: no model beats the average</a:t>
            </a:r>
            <a:endParaRPr sz="3000"/>
          </a:p>
        </p:txBody>
      </p:sp>
      <p:sp>
        <p:nvSpPr>
          <p:cNvPr id="313" name="Google Shape;313;p16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11  ·  RESULTS  · 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5486400" cy="31089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16"/>
          <p:cNvGraphicFramePr/>
          <p:nvPr/>
        </p:nvGraphicFramePr>
        <p:xfrm>
          <a:off x="630936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{ED8A763C-EA15-468A-B7BB-D357996856EA}</a:tableStyleId>
              </a:tblPr>
              <a:tblGrid>
                <a:gridCol w="2286000"/>
                <a:gridCol w="914400"/>
                <a:gridCol w="914400"/>
                <a:gridCol w="12161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MODEL</a:t>
                      </a:r>
                      <a:endParaRPr sz="11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RMSE (d)</a:t>
                      </a:r>
                      <a:endParaRPr sz="11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MAE (d)</a:t>
                      </a:r>
                      <a:endParaRPr sz="11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R SQUARED</a:t>
                      </a:r>
                      <a:endParaRPr sz="11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1EEE8"/>
                          </a:solidFill>
                        </a:rPr>
                        <a:t>Mean baseline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7.75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6.60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A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7A3D"/>
                          </a:solidFill>
                        </a:rPr>
                        <a:t>-0.179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Random forest (depth 5)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7.30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6.25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-0.048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Joint K-means (k=10)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7.56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6.40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-0.121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MLP (alpha 0.1)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8.28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6.93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-0.345</a:t>
                      </a:r>
                      <a:endParaRPr sz="13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16"/>
          <p:cNvSpPr txBox="1"/>
          <p:nvPr/>
        </p:nvSpPr>
        <p:spPr>
          <a:xfrm>
            <a:off x="6309360" y="365760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WHAT R SQUARED BELOW 0 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6309360" y="3931920"/>
            <a:ext cx="53309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Predicting the test-period average would have been better than the model. Predictions barely vary with the true time to eruption.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6309360" y="498348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WHY IT IS HARD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6309360" y="5257800"/>
            <a:ext cx="53309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Eruption timing needs a precise clock. Seven or eleven catalog features carry little of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548640" y="484632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SELECTION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548640" y="510235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Development RMSE decides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548640" y="5577840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The baseline won on development (RMSE 10.41 d vs 10.69 d for the forest), so it stays selected.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A random split makes the same features look better</a:t>
            </a:r>
            <a:endParaRPr sz="3000"/>
          </a:p>
        </p:txBody>
      </p:sp>
      <p:sp>
        <p:nvSpPr>
          <p:cNvPr id="330" name="Google Shape;330;p17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12  ·  RANDOM VS TIME-ORDERED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r chart comparing AUROC, kappa and R squared for chronological and random splits" id="331" name="Google Shape;3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4937760" cy="33161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2" name="Google Shape;332;p17"/>
          <p:cNvGraphicFramePr/>
          <p:nvPr/>
        </p:nvGraphicFramePr>
        <p:xfrm>
          <a:off x="594360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{ED8A763C-EA15-468A-B7BB-D357996856EA}</a:tableStyleId>
              </a:tblPr>
              <a:tblGrid>
                <a:gridCol w="2011675"/>
                <a:gridCol w="1234450"/>
                <a:gridCol w="1325875"/>
                <a:gridCol w="11247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TEST METRIC</a:t>
                      </a:r>
                      <a:endParaRPr sz="11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TIME-ORDERED</a:t>
                      </a:r>
                      <a:endParaRPr sz="11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RANDOM (OURS)</a:t>
                      </a:r>
                      <a:endParaRPr sz="11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3A8B3"/>
                          </a:solidFill>
                        </a:rPr>
                        <a:t>PAPER</a:t>
                      </a:r>
                      <a:endParaRPr sz="11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2B3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1EEE8"/>
                          </a:solidFill>
                        </a:rPr>
                        <a:t>AUROC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A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7A3D"/>
                          </a:solidFill>
                        </a:rPr>
                        <a:t>0.484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0.685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A3A8B3"/>
                          </a:solidFill>
                        </a:rPr>
                        <a:t>0.71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1EEE8"/>
                          </a:solidFill>
                        </a:rPr>
                        <a:t>Kappa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A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7A3D"/>
                          </a:solidFill>
                        </a:rPr>
                        <a:t>-0.006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0.185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A3A8B3"/>
                          </a:solidFill>
                        </a:rPr>
                        <a:t>0.52*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1EEE8"/>
                          </a:solidFill>
                        </a:rPr>
                        <a:t>Regression R squared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A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7A3D"/>
                          </a:solidFill>
                        </a:rPr>
                        <a:t>-0.179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EEE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EEE8"/>
                          </a:solidFill>
                        </a:rPr>
                        <a:t>0.160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A8B3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A3A8B3"/>
                          </a:solidFill>
                        </a:rPr>
                        <a:t>0.38</a:t>
                      </a:r>
                      <a:endParaRPr sz="13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F4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F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17"/>
          <p:cNvSpPr txBox="1"/>
          <p:nvPr/>
        </p:nvSpPr>
        <p:spPr>
          <a:xfrm>
            <a:off x="5943600" y="3200400"/>
            <a:ext cx="56967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* Paper figures, test set; its text quotes kappa 0.42. Each of our splits selects its own models (random: random forest for both tasks).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5943600" y="3931920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WHY THE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5943600" y="4187952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Swarms leak across a random split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5943600" y="4617720"/>
            <a:ext cx="56967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Quakes from the same swarm land in both train and test, so the test is easier than forecasting a later period.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17"/>
          <p:cNvCxnSpPr/>
          <p:nvPr/>
        </p:nvCxnSpPr>
        <p:spPr>
          <a:xfrm>
            <a:off x="548640" y="544068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7"/>
          <p:cNvSpPr txBox="1"/>
          <p:nvPr/>
        </p:nvSpPr>
        <p:spPr>
          <a:xfrm>
            <a:off x="548640" y="55778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LESSON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548640" y="583387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Evaluation design changes the story. A time-ordered test is the fair test for forecasting, even though it gives the less flattering number.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What we conclude</a:t>
            </a:r>
            <a:endParaRPr sz="3000"/>
          </a:p>
        </p:txBody>
      </p:sp>
      <p:sp>
        <p:nvSpPr>
          <p:cNvPr id="347" name="Google Shape;347;p18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13  ·  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 txBox="1"/>
          <p:nvPr/>
        </p:nvSpPr>
        <p:spPr>
          <a:xfrm>
            <a:off x="548640" y="150876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548640" y="22860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Catalog features are not enough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 txBox="1"/>
          <p:nvPr/>
        </p:nvSpPr>
        <p:spPr>
          <a:xfrm>
            <a:off x="548640" y="301752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On later earthquakes classification AUROC is 0.484 (chance 0.5) and no regressor beats the mean (R squared −0.179).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4343400" y="150876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4343400" y="22860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Evaluation design changes the story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4343400" y="301752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A random split reports AUROC 0.685 on the same features. Time-ordered testing is the fair test.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8138160" y="150876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7A3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8138160" y="22860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1EEE8"/>
                </a:solidFill>
                <a:latin typeface="Cambria"/>
                <a:ea typeface="Cambria"/>
                <a:cs typeface="Cambria"/>
                <a:sym typeface="Cambria"/>
              </a:rPr>
              <a:t>Tuning did not transfer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 txBox="1"/>
          <p:nvPr/>
        </p:nvSpPr>
        <p:spPr>
          <a:xfrm>
            <a:off x="8138160" y="301752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K-means search raised development AUROC to 0.668 but test AUROC was 0.515 (original 0.524). Thresholds leave AUROC unchanged.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18"/>
          <p:cNvCxnSpPr/>
          <p:nvPr/>
        </p:nvCxnSpPr>
        <p:spPr>
          <a:xfrm>
            <a:off x="548640" y="434340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8"/>
          <p:cNvSpPr txBox="1"/>
          <p:nvPr/>
        </p:nvSpPr>
        <p:spPr>
          <a:xfrm>
            <a:off x="548640" y="452628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LIMITS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548640" y="4800600"/>
            <a:ext cx="5303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Only 19 eruptive quakes in the test window; AUROC bootstrap interval is roughly 0.37-0.68.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Only 49 eruption entries and a single volcano.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Scores are not calibrated hazard probabilities. This is not a warning system.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 txBox="1"/>
          <p:nvPr/>
        </p:nvSpPr>
        <p:spPr>
          <a:xfrm>
            <a:off x="6400800" y="452628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WHAT WOULD HELP NEXT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6400800" y="4800600"/>
            <a:ext cx="5212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Ground deformation and gas emission measurements.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Focal mechanisms of the earthquakes.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A longer catalog with more eruptions.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1EEE8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Proper probability calibration for any alarm.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Live demo and reproducibility</a:t>
            </a:r>
            <a:endParaRPr sz="3000"/>
          </a:p>
        </p:txBody>
      </p:sp>
      <p:sp>
        <p:nvSpPr>
          <p:cNvPr id="369" name="Google Shape;369;p19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14  · 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548640" y="1508760"/>
            <a:ext cx="6675120" cy="4160520"/>
          </a:xfrm>
          <a:prstGeom prst="rect">
            <a:avLst/>
          </a:prstGeom>
          <a:solidFill>
            <a:srgbClr val="1E2128"/>
          </a:solidFill>
          <a:ln cap="flat" cmpd="sng" w="12700">
            <a:solidFill>
              <a:srgbClr val="1E2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"/>
          <p:cNvSpPr txBox="1"/>
          <p:nvPr/>
        </p:nvSpPr>
        <p:spPr>
          <a:xfrm>
            <a:off x="822960" y="171907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RUN IN THE PROJECT FOLDER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822960" y="2103120"/>
            <a:ext cx="62179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python -m unittest discover -s tests -v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F869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F8696"/>
                </a:solidFill>
                <a:latin typeface="Courier New"/>
                <a:ea typeface="Courier New"/>
                <a:cs typeface="Courier New"/>
                <a:sym typeface="Courier New"/>
              </a:rPr>
              <a:t># 17 tests, all passing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F869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F869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python demo.py --row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F869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F8696"/>
                </a:solidFill>
                <a:latin typeface="Courier New"/>
                <a:ea typeface="Courier New"/>
                <a:cs typeface="Courier New"/>
                <a:sym typeface="Courier New"/>
              </a:rPr>
              <a:t># score one held-out earthquake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F869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F869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python -m src.experiment --protocol chronological \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    --output-dir tmp/live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F869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F8696"/>
                </a:solidFill>
                <a:latin typeface="Courier New"/>
                <a:ea typeface="Courier New"/>
                <a:cs typeface="Courier New"/>
                <a:sym typeface="Courier New"/>
              </a:rPr>
              <a:t># full retrain without touching saved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F869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F869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1EEE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python scripts/build_figures.py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F869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F8696"/>
                </a:solidFill>
                <a:latin typeface="Courier New"/>
                <a:ea typeface="Courier New"/>
                <a:cs typeface="Courier New"/>
                <a:sym typeface="Courier New"/>
              </a:rPr>
              <a:t># rebuild charts from saved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 txBox="1"/>
          <p:nvPr/>
        </p:nvSpPr>
        <p:spPr>
          <a:xfrm>
            <a:off x="7680960" y="155448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WHAT THE DEMO SHOWS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7680960" y="1828800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A saved model scores a real held-out earthquake: eruption score, class, estimated days, and the true catalog labels beside them.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7680960" y="324612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7680960" y="3520440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notebooks/walkthrough.ipynb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1E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graphs.html: all charts and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1E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output/pdf and output/slides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1EE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1EEE8"/>
                </a:solidFill>
                <a:latin typeface="Courier New"/>
                <a:ea typeface="Courier New"/>
                <a:cs typeface="Courier New"/>
                <a:sym typeface="Courier New"/>
              </a:rPr>
              <a:t>requirements.txt (scikit-learn 1.7.2)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7680960" y="480060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HONEST FRAMING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7680960" y="5074920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8B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A8B3"/>
                </a:solidFill>
                <a:latin typeface="Calibri"/>
                <a:ea typeface="Calibri"/>
                <a:cs typeface="Calibri"/>
                <a:sym typeface="Calibri"/>
              </a:rPr>
              <a:t>Historical classroom demonstration. Scores are not calibrated probabilities, and the project is not a volcano warning system.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"/>
          <p:cNvSpPr txBox="1"/>
          <p:nvPr>
            <p:ph type="title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1EEE8"/>
                </a:solidFill>
              </a:rPr>
              <a:t>References</a:t>
            </a:r>
            <a:endParaRPr sz="3000"/>
          </a:p>
        </p:txBody>
      </p:sp>
      <p:sp>
        <p:nvSpPr>
          <p:cNvPr id="386" name="Google Shape;386;p20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A3D"/>
                </a:solidFill>
                <a:latin typeface="Calibri"/>
                <a:ea typeface="Calibri"/>
                <a:cs typeface="Calibri"/>
                <a:sym typeface="Calibri"/>
              </a:rPr>
              <a:t>15  ·  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548640" y="1554480"/>
            <a:ext cx="10241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Mullet, B., Singh, A., &amp; Wong, Y.-Q. (2019). Predicting Eruptive Events at Volcanoes from Earthquake Data. Stanford CS229 project report.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F1EEE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PEEVED code and bundled catalogs: github.com/bmullet/PEEVED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F1EEE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Earthquake catalog: Advanced National Seismic System (ANSS), hosted by WOVOdat. Eruption history: Hawaii Center for Volcanology (as bundled in PEEVED).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F1EEE8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Pedregosa, F. et al. (2011). Scikit-learn: Machine Learning in Python. JMLR 12, 2825-2830.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ismogram trace" id="388" name="Google Shape;388;p20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0" y="4480560"/>
            <a:ext cx="12191695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0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EE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EEE8"/>
                </a:solidFill>
                <a:latin typeface="Calibri"/>
                <a:ea typeface="Calibri"/>
                <a:cs typeface="Calibri"/>
                <a:sym typeface="Calibri"/>
              </a:rPr>
              <a:t>Prithvish Adhikari (PES1UG24AM206)  ·  Piyush Shiv (PES1UG24AM191)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 txBox="1"/>
          <p:nvPr>
            <p:ph idx="4294967295" type="sldNum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7F869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7F86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EVED Dark">
  <a:themeElements>
    <a:clrScheme name="PEEVED Dark">
      <a:dk1>
        <a:srgbClr val="14161B"/>
      </a:dk1>
      <a:lt1>
        <a:srgbClr val="F1EEE8"/>
      </a:lt1>
      <a:dk2>
        <a:srgbClr val="1E2128"/>
      </a:dk2>
      <a:lt2>
        <a:srgbClr val="A3A8B3"/>
      </a:lt2>
      <a:accent1>
        <a:srgbClr val="FF7A3D"/>
      </a:accent1>
      <a:accent2>
        <a:srgbClr val="E9B44C"/>
      </a:accent2>
      <a:accent3>
        <a:srgbClr val="6FC2B0"/>
      </a:accent3>
      <a:accent4>
        <a:srgbClr val="7F8696"/>
      </a:accent4>
      <a:accent5>
        <a:srgbClr val="3A3F4A"/>
      </a:accent5>
      <a:accent6>
        <a:srgbClr val="C94F4F"/>
      </a:accent6>
      <a:hlink>
        <a:srgbClr val="E9B44C"/>
      </a:hlink>
      <a:folHlink>
        <a:srgbClr val="A3A8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EVED Dark">
  <a:themeElements>
    <a:clrScheme name="PEEVED Dark">
      <a:dk1>
        <a:srgbClr val="14161B"/>
      </a:dk1>
      <a:lt1>
        <a:srgbClr val="F1EEE8"/>
      </a:lt1>
      <a:dk2>
        <a:srgbClr val="1E2128"/>
      </a:dk2>
      <a:lt2>
        <a:srgbClr val="A3A8B3"/>
      </a:lt2>
      <a:accent1>
        <a:srgbClr val="FF7A3D"/>
      </a:accent1>
      <a:accent2>
        <a:srgbClr val="E9B44C"/>
      </a:accent2>
      <a:accent3>
        <a:srgbClr val="6FC2B0"/>
      </a:accent3>
      <a:accent4>
        <a:srgbClr val="7F8696"/>
      </a:accent4>
      <a:accent5>
        <a:srgbClr val="3A3F4A"/>
      </a:accent5>
      <a:accent6>
        <a:srgbClr val="C94F4F"/>
      </a:accent6>
      <a:hlink>
        <a:srgbClr val="E9B44C"/>
      </a:hlink>
      <a:folHlink>
        <a:srgbClr val="A3A8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